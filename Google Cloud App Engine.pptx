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6C4946"/>
    <a:srgbClr val="0096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B67A0-7EF1-488C-A20C-81DB5069130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4A666D1E-08CB-43A3-A162-4D902B4983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46379A07-B5FE-41ED-BA49-CC2CA6E21F85}"/>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EC23880B-A6FF-40B2-B2A0-892B07816DF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53A845C-4E1A-484C-B317-FBA132AF7925}"/>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352619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05A2A-F07F-4967-B72C-AB995C1FD259}"/>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7C72D808-B70E-493B-8946-07518FCC9E3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3F3B602-CF38-4C5D-88BB-9CD0D67C66D4}"/>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D21E6CC1-D2B0-4E79-BBF0-562494B3FA30}"/>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FC26CF0-F6BA-4F2B-8119-22BB855A4AC3}"/>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1876732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4A5B47-8A0A-4320-A81B-CEF139DF5BD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6B8F44E-0CD6-4B46-87BD-5458B60252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24CA63E-BD91-40DB-97B6-9C49EB13CD42}"/>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1FFD8BA0-F8F1-45E4-B61D-1C61DDFAFBE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2A09044-56BF-46A0-968E-120E6D144DD9}"/>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1951585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1D228C-D706-493F-95FC-9857373021B9}"/>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1A04150-B87E-4752-BA52-1E9208F24E8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7CD83513-C919-4170-B651-E817DF46134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8B29591A-763A-4A14-93B4-2DD2E26C1479}"/>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6" name="Marcador de pie de página 5">
            <a:extLst>
              <a:ext uri="{FF2B5EF4-FFF2-40B4-BE49-F238E27FC236}">
                <a16:creationId xmlns:a16="http://schemas.microsoft.com/office/drawing/2014/main" id="{C07A64E4-2925-411D-A07D-B7C69B0A7DF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6DAB757-1C28-470A-B19C-FEAD424BACF8}"/>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58069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389286-CEDC-4B27-B1E8-D2D884C1CB4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8FE9AFA1-D23B-4F6F-9FD3-B39F5A7BF8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209C2F7-7A10-4558-B880-42091F91263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E94EC5E7-A713-451F-81AA-478160CD0D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DD25953-7081-4F08-96A4-3DFBE03ABF7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469FE1BD-3706-457C-A3CF-96F4535ADC73}"/>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8" name="Marcador de pie de página 7">
            <a:extLst>
              <a:ext uri="{FF2B5EF4-FFF2-40B4-BE49-F238E27FC236}">
                <a16:creationId xmlns:a16="http://schemas.microsoft.com/office/drawing/2014/main" id="{97658F39-ED3B-4F9C-940A-E3DC09496659}"/>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506C5590-4977-4A9C-AE0D-D68F2F9CB3C4}"/>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2762401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21EFD3-7E81-4DFA-AA6F-A132C8FB198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556DEBD5-6D03-4607-AB8C-758F51D403AE}"/>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4" name="Marcador de pie de página 3">
            <a:extLst>
              <a:ext uri="{FF2B5EF4-FFF2-40B4-BE49-F238E27FC236}">
                <a16:creationId xmlns:a16="http://schemas.microsoft.com/office/drawing/2014/main" id="{EACE54ED-2D29-4532-8458-8247C549050F}"/>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DB41DBD3-DDCD-4C8E-BDE4-E5174B6B1400}"/>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20900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51A1689-3F49-42BA-942F-03B108152A98}"/>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3" name="Marcador de pie de página 2">
            <a:extLst>
              <a:ext uri="{FF2B5EF4-FFF2-40B4-BE49-F238E27FC236}">
                <a16:creationId xmlns:a16="http://schemas.microsoft.com/office/drawing/2014/main" id="{E98BF61A-7229-41BB-AB89-6845AD67E3C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9F0AA349-D6BD-443C-AE3E-C3A78FE91DFB}"/>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138896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0D432-195C-46A5-8B56-E6A7A990761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E4F01441-2E79-4FF5-BC8A-F66A3B1932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0E734586-D9BD-405A-8442-FE2BEE108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8FEA7E8-D3F5-4F93-BDE2-6B7AB170642A}"/>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6" name="Marcador de pie de página 5">
            <a:extLst>
              <a:ext uri="{FF2B5EF4-FFF2-40B4-BE49-F238E27FC236}">
                <a16:creationId xmlns:a16="http://schemas.microsoft.com/office/drawing/2014/main" id="{C669DDCC-99F8-48AD-9AE5-406626DD7A5C}"/>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50DE330-A00A-47AF-A7CC-3A73218A033E}"/>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3894346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E52CB7-E2B0-47B5-9BAC-A852DD7F69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1EFDC6A-20C7-4369-A49E-836145E06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D7206502-AE6B-4642-9825-9842B0A4B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515ECA8-4203-4E41-A2BF-4D8247538163}"/>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6" name="Marcador de pie de página 5">
            <a:extLst>
              <a:ext uri="{FF2B5EF4-FFF2-40B4-BE49-F238E27FC236}">
                <a16:creationId xmlns:a16="http://schemas.microsoft.com/office/drawing/2014/main" id="{FDC2C8F5-FCD3-4B1B-BCD6-90F5686B0B3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9C8CD4F-B962-478A-A009-C3A504242610}"/>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385902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BCA9F-A71A-48EC-B39D-9A8A5751062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6595F8D-DB29-4244-A68B-E13434E057B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67DAEDE-20B1-4C82-B377-B6DC0E51075A}"/>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4D634373-D5BB-4704-B8A5-841ED2F3677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D64A0FA-82AB-405C-8D60-A98C6C4CC0D8}"/>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646631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AB539AA-D0A5-4BA4-A245-0DA2111950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05BAFD8B-576A-4F6F-8581-F6B2778F3E5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2B23F5D-C1A4-4D0A-B0C8-4813D79F720D}"/>
              </a:ext>
            </a:extLst>
          </p:cNvPr>
          <p:cNvSpPr>
            <a:spLocks noGrp="1"/>
          </p:cNvSpPr>
          <p:nvPr>
            <p:ph type="dt" sz="half" idx="10"/>
          </p:nvPr>
        </p:nvSpPr>
        <p:spPr/>
        <p:txBody>
          <a:body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EFDF0030-2FD3-4D1D-9216-7755FF98FE17}"/>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E0E64215-8408-43D1-8699-469D1064CE84}"/>
              </a:ext>
            </a:extLst>
          </p:cNvPr>
          <p:cNvSpPr>
            <a:spLocks noGrp="1"/>
          </p:cNvSpPr>
          <p:nvPr>
            <p:ph type="sldNum" sz="quarter" idx="12"/>
          </p:nvPr>
        </p:nvSpPr>
        <p:spPr/>
        <p:txBody>
          <a:bodyPr/>
          <a:lstStyle/>
          <a:p>
            <a:fld id="{3DF115CC-B70F-4EFD-A521-1F5046922C27}" type="slidenum">
              <a:rPr lang="en-US" smtClean="0"/>
              <a:t>‹#›</a:t>
            </a:fld>
            <a:endParaRPr lang="en-US"/>
          </a:p>
        </p:txBody>
      </p:sp>
    </p:spTree>
    <p:extLst>
      <p:ext uri="{BB962C8B-B14F-4D97-AF65-F5344CB8AC3E}">
        <p14:creationId xmlns:p14="http://schemas.microsoft.com/office/powerpoint/2010/main" val="10295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6000">
              <a:srgbClr val="386398"/>
            </a:gs>
            <a:gs pos="19000">
              <a:schemeClr val="tx1"/>
            </a:gs>
            <a:gs pos="55000">
              <a:srgbClr val="7030A0"/>
            </a:gs>
            <a:gs pos="100000">
              <a:srgbClr val="00968F"/>
            </a:gs>
          </a:gsLst>
          <a:lin ang="27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08E6266-DF80-4462-BF6F-ABD4AE4ED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020A7E81-36A8-419E-A71C-AB49361EB1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B55A2660-3537-433D-9BBF-1252B0DF33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B029C9-1497-42C5-96F8-18D3A77F3A07}" type="datetimeFigureOut">
              <a:rPr lang="en-US" smtClean="0"/>
              <a:t>5/4/2022</a:t>
            </a:fld>
            <a:endParaRPr lang="en-US"/>
          </a:p>
        </p:txBody>
      </p:sp>
      <p:sp>
        <p:nvSpPr>
          <p:cNvPr id="5" name="Marcador de pie de página 4">
            <a:extLst>
              <a:ext uri="{FF2B5EF4-FFF2-40B4-BE49-F238E27FC236}">
                <a16:creationId xmlns:a16="http://schemas.microsoft.com/office/drawing/2014/main" id="{E583A2D3-23EE-4DDE-A314-543E021299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2448B42B-53C8-4906-87FB-6BD44C0D9D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115CC-B70F-4EFD-A521-1F5046922C27}" type="slidenum">
              <a:rPr lang="en-US" smtClean="0"/>
              <a:t>‹#›</a:t>
            </a:fld>
            <a:endParaRPr lang="en-US"/>
          </a:p>
        </p:txBody>
      </p:sp>
    </p:spTree>
    <p:extLst>
      <p:ext uri="{BB962C8B-B14F-4D97-AF65-F5344CB8AC3E}">
        <p14:creationId xmlns:p14="http://schemas.microsoft.com/office/powerpoint/2010/main" val="1783516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1501E5C-C382-4562-9362-3F220B82442A}"/>
              </a:ext>
            </a:extLst>
          </p:cNvPr>
          <p:cNvSpPr>
            <a:spLocks noGrp="1"/>
          </p:cNvSpPr>
          <p:nvPr>
            <p:ph type="title"/>
          </p:nvPr>
        </p:nvSpPr>
        <p:spPr>
          <a:xfrm>
            <a:off x="3151414" y="430439"/>
            <a:ext cx="5889171" cy="997143"/>
          </a:xfrm>
        </p:spPr>
        <p:txBody>
          <a:bodyPr>
            <a:normAutofit/>
          </a:bodyPr>
          <a:lstStyle/>
          <a:p>
            <a:pPr algn="ctr"/>
            <a:r>
              <a:rPr lang="en-US" dirty="0">
                <a:solidFill>
                  <a:schemeClr val="bg1"/>
                </a:solidFill>
              </a:rPr>
              <a:t>Google Cloud App Engine</a:t>
            </a:r>
          </a:p>
        </p:txBody>
      </p:sp>
      <p:pic>
        <p:nvPicPr>
          <p:cNvPr id="1028" name="Picture 4" descr="Deploying Parse server to Google App Engine | by Justin Beckwith | Google  Cloud - Community | Medium">
            <a:extLst>
              <a:ext uri="{FF2B5EF4-FFF2-40B4-BE49-F238E27FC236}">
                <a16:creationId xmlns:a16="http://schemas.microsoft.com/office/drawing/2014/main" id="{FCAE37DE-744F-4F2D-8CD5-DC6B313C7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4275" y="2504881"/>
            <a:ext cx="4743450"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571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32C912FE-7C8C-0B8B-8701-47FBB8C08899}"/>
              </a:ext>
            </a:extLst>
          </p:cNvPr>
          <p:cNvSpPr/>
          <p:nvPr/>
        </p:nvSpPr>
        <p:spPr>
          <a:xfrm>
            <a:off x="6940406" y="4791808"/>
            <a:ext cx="1745335" cy="763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6BD3DD-5F3E-404B-B14D-5A6F49417EF6}"/>
              </a:ext>
            </a:extLst>
          </p:cNvPr>
          <p:cNvSpPr>
            <a:spLocks noGrp="1"/>
          </p:cNvSpPr>
          <p:nvPr>
            <p:ph type="title"/>
          </p:nvPr>
        </p:nvSpPr>
        <p:spPr>
          <a:xfrm>
            <a:off x="3883479" y="346465"/>
            <a:ext cx="4425043" cy="595928"/>
          </a:xfrm>
        </p:spPr>
        <p:txBody>
          <a:bodyPr>
            <a:normAutofit fontScale="90000"/>
          </a:bodyPr>
          <a:lstStyle/>
          <a:p>
            <a:r>
              <a:rPr lang="en-US" dirty="0">
                <a:solidFill>
                  <a:schemeClr val="bg1"/>
                </a:solidFill>
              </a:rPr>
              <a:t>What is App Engine?</a:t>
            </a:r>
          </a:p>
        </p:txBody>
      </p:sp>
      <p:sp>
        <p:nvSpPr>
          <p:cNvPr id="3" name="CuadroTexto 2">
            <a:extLst>
              <a:ext uri="{FF2B5EF4-FFF2-40B4-BE49-F238E27FC236}">
                <a16:creationId xmlns:a16="http://schemas.microsoft.com/office/drawing/2014/main" id="{165E81F1-2F5A-481F-8C77-E23B4308ED67}"/>
              </a:ext>
            </a:extLst>
          </p:cNvPr>
          <p:cNvSpPr txBox="1"/>
          <p:nvPr/>
        </p:nvSpPr>
        <p:spPr>
          <a:xfrm>
            <a:off x="522514" y="1772816"/>
            <a:ext cx="4235753" cy="2308324"/>
          </a:xfrm>
          <a:prstGeom prst="rect">
            <a:avLst/>
          </a:prstGeom>
          <a:noFill/>
        </p:spPr>
        <p:txBody>
          <a:bodyPr wrap="square" rtlCol="0">
            <a:spAutoFit/>
          </a:bodyPr>
          <a:lstStyle/>
          <a:p>
            <a:r>
              <a:rPr lang="en-US" dirty="0">
                <a:solidFill>
                  <a:schemeClr val="bg1"/>
                </a:solidFill>
              </a:rPr>
              <a:t>App Engine is a </a:t>
            </a:r>
            <a:r>
              <a:rPr lang="en-US" dirty="0">
                <a:solidFill>
                  <a:srgbClr val="FF0066"/>
                </a:solidFill>
              </a:rPr>
              <a:t>fully managed</a:t>
            </a:r>
            <a:r>
              <a:rPr lang="en-US" dirty="0">
                <a:solidFill>
                  <a:schemeClr val="bg1"/>
                </a:solidFill>
              </a:rPr>
              <a:t>, </a:t>
            </a:r>
            <a:r>
              <a:rPr lang="en-US" dirty="0">
                <a:solidFill>
                  <a:srgbClr val="FF0066"/>
                </a:solidFill>
              </a:rPr>
              <a:t>serverless</a:t>
            </a:r>
            <a:r>
              <a:rPr lang="en-US" dirty="0">
                <a:solidFill>
                  <a:schemeClr val="bg1"/>
                </a:solidFill>
              </a:rPr>
              <a:t> platform for developing and hosting web applications at scale. You can choose from several </a:t>
            </a:r>
            <a:r>
              <a:rPr lang="en-US" dirty="0">
                <a:solidFill>
                  <a:srgbClr val="FF0066"/>
                </a:solidFill>
              </a:rPr>
              <a:t>popular languages</a:t>
            </a:r>
            <a:r>
              <a:rPr lang="en-US" dirty="0">
                <a:solidFill>
                  <a:schemeClr val="bg1"/>
                </a:solidFill>
              </a:rPr>
              <a:t>, libraries, and frameworks to develop your apps, and then let App Engine take care of provisioning servers and </a:t>
            </a:r>
            <a:r>
              <a:rPr lang="en-US" dirty="0">
                <a:solidFill>
                  <a:srgbClr val="FF0066"/>
                </a:solidFill>
              </a:rPr>
              <a:t>scaling</a:t>
            </a:r>
            <a:r>
              <a:rPr lang="en-US" dirty="0">
                <a:solidFill>
                  <a:schemeClr val="bg1"/>
                </a:solidFill>
              </a:rPr>
              <a:t> your app instances based on demand.</a:t>
            </a:r>
          </a:p>
        </p:txBody>
      </p:sp>
      <p:pic>
        <p:nvPicPr>
          <p:cNvPr id="2050" name="Picture 2" descr="Digital Exchange">
            <a:extLst>
              <a:ext uri="{FF2B5EF4-FFF2-40B4-BE49-F238E27FC236}">
                <a16:creationId xmlns:a16="http://schemas.microsoft.com/office/drawing/2014/main" id="{5660F877-CC7A-43ED-BB00-E6B378B2C9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37" t="29259" r="11778" b="30149"/>
          <a:stretch/>
        </p:blipFill>
        <p:spPr bwMode="auto">
          <a:xfrm>
            <a:off x="5251591" y="2363095"/>
            <a:ext cx="1688815" cy="8974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is Horizontal Scalibility? - TecAdmin">
            <a:extLst>
              <a:ext uri="{FF2B5EF4-FFF2-40B4-BE49-F238E27FC236}">
                <a16:creationId xmlns:a16="http://schemas.microsoft.com/office/drawing/2014/main" id="{5BE502FE-D076-D84F-EC89-87F490F9E9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509"/>
          <a:stretch/>
        </p:blipFill>
        <p:spPr bwMode="auto">
          <a:xfrm>
            <a:off x="6940406" y="1772816"/>
            <a:ext cx="4558012" cy="191425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3FD0727-44A2-20D8-60F0-9B189624F7B3}"/>
              </a:ext>
            </a:extLst>
          </p:cNvPr>
          <p:cNvSpPr txBox="1"/>
          <p:nvPr/>
        </p:nvSpPr>
        <p:spPr>
          <a:xfrm>
            <a:off x="522514" y="4295215"/>
            <a:ext cx="4063998" cy="1754326"/>
          </a:xfrm>
          <a:prstGeom prst="rect">
            <a:avLst/>
          </a:prstGeom>
          <a:noFill/>
        </p:spPr>
        <p:txBody>
          <a:bodyPr wrap="square" rtlCol="0">
            <a:spAutoFit/>
          </a:bodyPr>
          <a:lstStyle/>
          <a:p>
            <a:r>
              <a:rPr lang="en-US" dirty="0">
                <a:solidFill>
                  <a:schemeClr val="bg1"/>
                </a:solidFill>
              </a:rPr>
              <a:t>An App Engine application is a high-level resource created in a project; that is, each project can have </a:t>
            </a:r>
            <a:r>
              <a:rPr lang="en-US" b="1" dirty="0">
                <a:solidFill>
                  <a:srgbClr val="FF0066"/>
                </a:solidFill>
              </a:rPr>
              <a:t>one App Engine application</a:t>
            </a:r>
            <a:r>
              <a:rPr lang="en-US" dirty="0">
                <a:solidFill>
                  <a:schemeClr val="bg1"/>
                </a:solidFill>
              </a:rPr>
              <a:t>. All resources associated with an App Engine app are </a:t>
            </a:r>
            <a:r>
              <a:rPr lang="en-US" b="1" dirty="0">
                <a:solidFill>
                  <a:srgbClr val="FF0066"/>
                </a:solidFill>
              </a:rPr>
              <a:t>created in the region</a:t>
            </a:r>
            <a:r>
              <a:rPr lang="en-US" dirty="0">
                <a:solidFill>
                  <a:schemeClr val="bg1"/>
                </a:solidFill>
              </a:rPr>
              <a:t> specified when the app is created.</a:t>
            </a:r>
          </a:p>
        </p:txBody>
      </p:sp>
      <p:pic>
        <p:nvPicPr>
          <p:cNvPr id="1034" name="Picture 10" descr="Open Cardboard Box Full of Stuff transparent PNG - StickPNG">
            <a:extLst>
              <a:ext uri="{FF2B5EF4-FFF2-40B4-BE49-F238E27FC236}">
                <a16:creationId xmlns:a16="http://schemas.microsoft.com/office/drawing/2014/main" id="{B8DEE173-3F35-9F4E-AEE8-E546AE0664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0855" y="4479544"/>
            <a:ext cx="2553666"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oogle Cloud Platform Fundamentals for AWS Professionals — Week 1 | by  Bekah Lundy | Medium">
            <a:extLst>
              <a:ext uri="{FF2B5EF4-FFF2-40B4-BE49-F238E27FC236}">
                <a16:creationId xmlns:a16="http://schemas.microsoft.com/office/drawing/2014/main" id="{3B9DD4C2-B33B-16EB-A461-CDD319BB144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3056" t="29314" r="28611" b="14257"/>
          <a:stretch/>
        </p:blipFill>
        <p:spPr bwMode="auto">
          <a:xfrm>
            <a:off x="8685741" y="4122255"/>
            <a:ext cx="1519695" cy="230832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C50CFDF-7AE9-9E3E-5E48-402B6676B4C1}"/>
              </a:ext>
            </a:extLst>
          </p:cNvPr>
          <p:cNvSpPr/>
          <p:nvPr/>
        </p:nvSpPr>
        <p:spPr>
          <a:xfrm rot="1420222">
            <a:off x="5780821" y="5519855"/>
            <a:ext cx="647934" cy="400110"/>
          </a:xfrm>
          <a:prstGeom prst="rect">
            <a:avLst/>
          </a:prstGeom>
          <a:noFill/>
        </p:spPr>
        <p:txBody>
          <a:bodyPr wrap="none" lIns="91440" tIns="45720" rIns="91440" bIns="45720">
            <a:spAutoFit/>
          </a:bodyPr>
          <a:lstStyle/>
          <a:p>
            <a:pPr algn="ctr"/>
            <a:r>
              <a:rPr lang="en-GB" sz="20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rPr>
              <a:t>App</a:t>
            </a:r>
            <a:endParaRPr lang="en-GB" sz="54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endParaRPr>
          </a:p>
        </p:txBody>
      </p:sp>
      <p:sp>
        <p:nvSpPr>
          <p:cNvPr id="10" name="Rectangle 9">
            <a:extLst>
              <a:ext uri="{FF2B5EF4-FFF2-40B4-BE49-F238E27FC236}">
                <a16:creationId xmlns:a16="http://schemas.microsoft.com/office/drawing/2014/main" id="{5AB2276B-2483-3C98-0DCB-0708D23228CC}"/>
              </a:ext>
            </a:extLst>
          </p:cNvPr>
          <p:cNvSpPr/>
          <p:nvPr/>
        </p:nvSpPr>
        <p:spPr>
          <a:xfrm rot="19926145">
            <a:off x="6485041" y="5623371"/>
            <a:ext cx="875561" cy="400110"/>
          </a:xfrm>
          <a:prstGeom prst="rect">
            <a:avLst/>
          </a:prstGeom>
          <a:noFill/>
        </p:spPr>
        <p:txBody>
          <a:bodyPr wrap="none" lIns="91440" tIns="45720" rIns="91440" bIns="45720">
            <a:spAutoFit/>
          </a:bodyPr>
          <a:lstStyle/>
          <a:p>
            <a:pPr algn="ctr"/>
            <a:r>
              <a:rPr lang="en-GB" sz="20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rPr>
              <a:t>Stuff</a:t>
            </a:r>
            <a:endParaRPr lang="en-GB" sz="54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endParaRPr>
          </a:p>
        </p:txBody>
      </p:sp>
    </p:spTree>
    <p:extLst>
      <p:ext uri="{BB962C8B-B14F-4D97-AF65-F5344CB8AC3E}">
        <p14:creationId xmlns:p14="http://schemas.microsoft.com/office/powerpoint/2010/main" val="1902077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1803A-8822-7BDA-7997-8D57BB6EFC60}"/>
              </a:ext>
            </a:extLst>
          </p:cNvPr>
          <p:cNvSpPr>
            <a:spLocks noGrp="1"/>
          </p:cNvSpPr>
          <p:nvPr>
            <p:ph type="title"/>
          </p:nvPr>
        </p:nvSpPr>
        <p:spPr>
          <a:xfrm>
            <a:off x="3179233" y="298135"/>
            <a:ext cx="5833533" cy="710142"/>
          </a:xfrm>
        </p:spPr>
        <p:txBody>
          <a:bodyPr/>
          <a:lstStyle/>
          <a:p>
            <a:r>
              <a:rPr lang="en-US" dirty="0">
                <a:solidFill>
                  <a:schemeClr val="bg1"/>
                </a:solidFill>
              </a:rPr>
              <a:t>App Engine Components</a:t>
            </a:r>
          </a:p>
        </p:txBody>
      </p:sp>
      <p:sp>
        <p:nvSpPr>
          <p:cNvPr id="3" name="TextBox 2">
            <a:extLst>
              <a:ext uri="{FF2B5EF4-FFF2-40B4-BE49-F238E27FC236}">
                <a16:creationId xmlns:a16="http://schemas.microsoft.com/office/drawing/2014/main" id="{682F5D82-FD66-6970-79A9-EC0FB31DF48C}"/>
              </a:ext>
            </a:extLst>
          </p:cNvPr>
          <p:cNvSpPr txBox="1"/>
          <p:nvPr/>
        </p:nvSpPr>
        <p:spPr>
          <a:xfrm>
            <a:off x="3069235" y="908067"/>
            <a:ext cx="7035800" cy="369332"/>
          </a:xfrm>
          <a:prstGeom prst="rect">
            <a:avLst/>
          </a:prstGeom>
          <a:noFill/>
        </p:spPr>
        <p:txBody>
          <a:bodyPr wrap="square" rtlCol="0">
            <a:spAutoFit/>
          </a:bodyPr>
          <a:lstStyle/>
          <a:p>
            <a:r>
              <a:rPr lang="en-US" dirty="0">
                <a:solidFill>
                  <a:schemeClr val="bg1"/>
                </a:solidFill>
              </a:rPr>
              <a:t>App Engine Standard applications consist of four components:</a:t>
            </a:r>
          </a:p>
        </p:txBody>
      </p:sp>
      <p:sp>
        <p:nvSpPr>
          <p:cNvPr id="5" name="TextBox 4">
            <a:extLst>
              <a:ext uri="{FF2B5EF4-FFF2-40B4-BE49-F238E27FC236}">
                <a16:creationId xmlns:a16="http://schemas.microsoft.com/office/drawing/2014/main" id="{9C34D367-EC91-8E70-121E-2741D0A8423D}"/>
              </a:ext>
            </a:extLst>
          </p:cNvPr>
          <p:cNvSpPr txBox="1"/>
          <p:nvPr/>
        </p:nvSpPr>
        <p:spPr>
          <a:xfrm>
            <a:off x="3888725" y="4787040"/>
            <a:ext cx="1828800" cy="1754326"/>
          </a:xfrm>
          <a:prstGeom prst="rect">
            <a:avLst/>
          </a:prstGeom>
          <a:noFill/>
        </p:spPr>
        <p:txBody>
          <a:bodyPr wrap="square" rtlCol="0">
            <a:spAutoFit/>
          </a:bodyPr>
          <a:lstStyle/>
          <a:p>
            <a:pPr algn="ctr"/>
            <a:r>
              <a:rPr lang="en-US" dirty="0">
                <a:solidFill>
                  <a:schemeClr val="bg1"/>
                </a:solidFill>
              </a:rPr>
              <a:t>Apps have at least one service, which is the code executed in the App Engine environment</a:t>
            </a:r>
          </a:p>
        </p:txBody>
      </p:sp>
      <p:sp>
        <p:nvSpPr>
          <p:cNvPr id="6" name="TextBox 5">
            <a:extLst>
              <a:ext uri="{FF2B5EF4-FFF2-40B4-BE49-F238E27FC236}">
                <a16:creationId xmlns:a16="http://schemas.microsoft.com/office/drawing/2014/main" id="{1AB8F173-CB2B-6FB3-0122-31D72931067F}"/>
              </a:ext>
            </a:extLst>
          </p:cNvPr>
          <p:cNvSpPr txBox="1"/>
          <p:nvPr/>
        </p:nvSpPr>
        <p:spPr>
          <a:xfrm>
            <a:off x="6434740" y="2280148"/>
            <a:ext cx="2690446" cy="2308324"/>
          </a:xfrm>
          <a:prstGeom prst="rect">
            <a:avLst/>
          </a:prstGeom>
          <a:noFill/>
        </p:spPr>
        <p:txBody>
          <a:bodyPr wrap="square" rtlCol="0">
            <a:spAutoFit/>
          </a:bodyPr>
          <a:lstStyle/>
          <a:p>
            <a:pPr algn="ctr"/>
            <a:r>
              <a:rPr lang="en-US" dirty="0">
                <a:solidFill>
                  <a:schemeClr val="bg1"/>
                </a:solidFill>
              </a:rPr>
              <a:t>A service can have multiple versions, and these are usually slightly different, with newer versions incorporating new features, bug fixes, and other changes relative to earlier versions. </a:t>
            </a:r>
          </a:p>
        </p:txBody>
      </p:sp>
      <p:sp>
        <p:nvSpPr>
          <p:cNvPr id="7" name="TextBox 6">
            <a:extLst>
              <a:ext uri="{FF2B5EF4-FFF2-40B4-BE49-F238E27FC236}">
                <a16:creationId xmlns:a16="http://schemas.microsoft.com/office/drawing/2014/main" id="{FE2066B8-642D-286C-56A5-EA0363E4BA67}"/>
              </a:ext>
            </a:extLst>
          </p:cNvPr>
          <p:cNvSpPr txBox="1"/>
          <p:nvPr/>
        </p:nvSpPr>
        <p:spPr>
          <a:xfrm>
            <a:off x="9829117" y="4787040"/>
            <a:ext cx="1651977" cy="1477328"/>
          </a:xfrm>
          <a:prstGeom prst="rect">
            <a:avLst/>
          </a:prstGeom>
          <a:noFill/>
        </p:spPr>
        <p:txBody>
          <a:bodyPr wrap="square" rtlCol="0">
            <a:spAutoFit/>
          </a:bodyPr>
          <a:lstStyle/>
          <a:p>
            <a:pPr algn="ctr"/>
            <a:r>
              <a:rPr lang="en-US" dirty="0">
                <a:solidFill>
                  <a:schemeClr val="bg1"/>
                </a:solidFill>
              </a:rPr>
              <a:t>When a version executes, it creates an instance of </a:t>
            </a:r>
          </a:p>
          <a:p>
            <a:pPr algn="ctr"/>
            <a:r>
              <a:rPr lang="en-US" dirty="0">
                <a:solidFill>
                  <a:schemeClr val="bg1"/>
                </a:solidFill>
              </a:rPr>
              <a:t>the app.</a:t>
            </a:r>
          </a:p>
        </p:txBody>
      </p:sp>
      <p:pic>
        <p:nvPicPr>
          <p:cNvPr id="2052" name="Picture 4" descr="Content Versioning - A Sneak Peek at Joomla's Newest Proposed Feature -  Joomlashack">
            <a:extLst>
              <a:ext uri="{FF2B5EF4-FFF2-40B4-BE49-F238E27FC236}">
                <a16:creationId xmlns:a16="http://schemas.microsoft.com/office/drawing/2014/main" id="{B51060EF-BECF-0F0A-D8C2-D5542CF769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111" r="8222"/>
          <a:stretch/>
        </p:blipFill>
        <p:spPr bwMode="auto">
          <a:xfrm>
            <a:off x="7124723" y="4787040"/>
            <a:ext cx="1386231" cy="16768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D2B0D63-A756-FF4E-36BC-1A0AC24AD5AE}"/>
              </a:ext>
            </a:extLst>
          </p:cNvPr>
          <p:cNvSpPr txBox="1"/>
          <p:nvPr/>
        </p:nvSpPr>
        <p:spPr>
          <a:xfrm>
            <a:off x="890949" y="2280148"/>
            <a:ext cx="2197100" cy="2308324"/>
          </a:xfrm>
          <a:prstGeom prst="rect">
            <a:avLst/>
          </a:prstGeom>
          <a:noFill/>
        </p:spPr>
        <p:txBody>
          <a:bodyPr wrap="square" rtlCol="0">
            <a:spAutoFit/>
          </a:bodyPr>
          <a:lstStyle/>
          <a:p>
            <a:pPr algn="ctr"/>
            <a:r>
              <a:rPr lang="en-US" dirty="0">
                <a:solidFill>
                  <a:schemeClr val="bg1"/>
                </a:solidFill>
              </a:rPr>
              <a:t>An application that the customer needs is a combination of multiple services, where each service can have various versions that are deployed in instances</a:t>
            </a:r>
          </a:p>
        </p:txBody>
      </p:sp>
      <p:pic>
        <p:nvPicPr>
          <p:cNvPr id="1026" name="Picture 2" descr="Notebook Laptop Hand Illustration Transparent PNG &amp; SVG Vector">
            <a:extLst>
              <a:ext uri="{FF2B5EF4-FFF2-40B4-BE49-F238E27FC236}">
                <a16:creationId xmlns:a16="http://schemas.microsoft.com/office/drawing/2014/main" id="{2107F2C7-239C-83AA-77D5-DED928A0F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336" y="4787040"/>
            <a:ext cx="1754326" cy="1754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9BB6A88-DB1E-2AA0-5965-F1ED26BCF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6810" y="2280148"/>
            <a:ext cx="1457477" cy="20609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ervices - What &amp; Why?">
            <a:extLst>
              <a:ext uri="{FF2B5EF4-FFF2-40B4-BE49-F238E27FC236}">
                <a16:creationId xmlns:a16="http://schemas.microsoft.com/office/drawing/2014/main" id="{AAE5FB2E-78E8-84E3-D709-1F7BC62E04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4575" y="2280148"/>
            <a:ext cx="2197100" cy="21971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323879D-9671-0433-9B7C-1D664A7D5982}"/>
              </a:ext>
            </a:extLst>
          </p:cNvPr>
          <p:cNvSpPr/>
          <p:nvPr/>
        </p:nvSpPr>
        <p:spPr>
          <a:xfrm>
            <a:off x="1173556" y="1719199"/>
            <a:ext cx="1631885"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Application</a:t>
            </a:r>
          </a:p>
        </p:txBody>
      </p:sp>
      <p:sp>
        <p:nvSpPr>
          <p:cNvPr id="16" name="Rectangle 15">
            <a:extLst>
              <a:ext uri="{FF2B5EF4-FFF2-40B4-BE49-F238E27FC236}">
                <a16:creationId xmlns:a16="http://schemas.microsoft.com/office/drawing/2014/main" id="{686B0AD9-A187-9927-7013-1878639A275F}"/>
              </a:ext>
            </a:extLst>
          </p:cNvPr>
          <p:cNvSpPr/>
          <p:nvPr/>
        </p:nvSpPr>
        <p:spPr>
          <a:xfrm>
            <a:off x="3987182" y="1709534"/>
            <a:ext cx="1631885"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Service</a:t>
            </a:r>
          </a:p>
        </p:txBody>
      </p:sp>
      <p:sp>
        <p:nvSpPr>
          <p:cNvPr id="17" name="Rectangle 16">
            <a:extLst>
              <a:ext uri="{FF2B5EF4-FFF2-40B4-BE49-F238E27FC236}">
                <a16:creationId xmlns:a16="http://schemas.microsoft.com/office/drawing/2014/main" id="{4E91C339-816A-77C0-413F-FECFEC575E0A}"/>
              </a:ext>
            </a:extLst>
          </p:cNvPr>
          <p:cNvSpPr/>
          <p:nvPr/>
        </p:nvSpPr>
        <p:spPr>
          <a:xfrm>
            <a:off x="6964020" y="1709534"/>
            <a:ext cx="1631885"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Version</a:t>
            </a:r>
          </a:p>
        </p:txBody>
      </p:sp>
      <p:sp>
        <p:nvSpPr>
          <p:cNvPr id="18" name="Rectangle 17">
            <a:extLst>
              <a:ext uri="{FF2B5EF4-FFF2-40B4-BE49-F238E27FC236}">
                <a16:creationId xmlns:a16="http://schemas.microsoft.com/office/drawing/2014/main" id="{17732C03-799E-FF84-F708-C10FC49DFCE9}"/>
              </a:ext>
            </a:extLst>
          </p:cNvPr>
          <p:cNvSpPr/>
          <p:nvPr/>
        </p:nvSpPr>
        <p:spPr>
          <a:xfrm>
            <a:off x="9729605" y="1714700"/>
            <a:ext cx="1631885"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Instance</a:t>
            </a:r>
          </a:p>
        </p:txBody>
      </p:sp>
    </p:spTree>
    <p:extLst>
      <p:ext uri="{BB962C8B-B14F-4D97-AF65-F5344CB8AC3E}">
        <p14:creationId xmlns:p14="http://schemas.microsoft.com/office/powerpoint/2010/main" val="33846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55C0-D5B8-FECB-116F-E766DC41E30A}"/>
              </a:ext>
            </a:extLst>
          </p:cNvPr>
          <p:cNvSpPr>
            <a:spLocks noGrp="1"/>
          </p:cNvSpPr>
          <p:nvPr>
            <p:ph type="title"/>
          </p:nvPr>
        </p:nvSpPr>
        <p:spPr>
          <a:xfrm>
            <a:off x="1142999" y="365125"/>
            <a:ext cx="9906001" cy="628406"/>
          </a:xfrm>
        </p:spPr>
        <p:txBody>
          <a:bodyPr>
            <a:normAutofit/>
          </a:bodyPr>
          <a:lstStyle/>
          <a:p>
            <a:pPr algn="ctr"/>
            <a:r>
              <a:rPr lang="en-US" sz="3600" dirty="0">
                <a:solidFill>
                  <a:schemeClr val="bg1"/>
                </a:solidFill>
              </a:rPr>
              <a:t>The component hierarchy of App Engine applications</a:t>
            </a:r>
          </a:p>
        </p:txBody>
      </p:sp>
      <p:pic>
        <p:nvPicPr>
          <p:cNvPr id="4" name="Picture 2" descr="Hierarchy structure of App Engine">
            <a:extLst>
              <a:ext uri="{FF2B5EF4-FFF2-40B4-BE49-F238E27FC236}">
                <a16:creationId xmlns:a16="http://schemas.microsoft.com/office/drawing/2014/main" id="{76F92BC1-D3BD-83DF-6B0D-0F81CC565E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416"/>
          <a:stretch/>
        </p:blipFill>
        <p:spPr bwMode="auto">
          <a:xfrm>
            <a:off x="3238500" y="1447800"/>
            <a:ext cx="5715000" cy="504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55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8F46-3183-D8C4-6EB5-C3C8A9C6E31C}"/>
              </a:ext>
            </a:extLst>
          </p:cNvPr>
          <p:cNvSpPr>
            <a:spLocks noGrp="1"/>
          </p:cNvSpPr>
          <p:nvPr>
            <p:ph type="title"/>
          </p:nvPr>
        </p:nvSpPr>
        <p:spPr>
          <a:xfrm>
            <a:off x="3522133" y="390526"/>
            <a:ext cx="5147733" cy="794808"/>
          </a:xfrm>
        </p:spPr>
        <p:txBody>
          <a:bodyPr/>
          <a:lstStyle/>
          <a:p>
            <a:r>
              <a:rPr lang="en-US" dirty="0">
                <a:solidFill>
                  <a:schemeClr val="bg1"/>
                </a:solidFill>
              </a:rPr>
              <a:t>App Engine Use Cases</a:t>
            </a:r>
          </a:p>
        </p:txBody>
      </p:sp>
      <p:sp>
        <p:nvSpPr>
          <p:cNvPr id="5" name="TextBox 4">
            <a:extLst>
              <a:ext uri="{FF2B5EF4-FFF2-40B4-BE49-F238E27FC236}">
                <a16:creationId xmlns:a16="http://schemas.microsoft.com/office/drawing/2014/main" id="{64AAA8E5-37CA-336D-E365-60F19E7FEB05}"/>
              </a:ext>
            </a:extLst>
          </p:cNvPr>
          <p:cNvSpPr txBox="1"/>
          <p:nvPr/>
        </p:nvSpPr>
        <p:spPr>
          <a:xfrm>
            <a:off x="1418166" y="1528885"/>
            <a:ext cx="4207933" cy="2862322"/>
          </a:xfrm>
          <a:prstGeom prst="rect">
            <a:avLst/>
          </a:prstGeom>
          <a:noFill/>
        </p:spPr>
        <p:txBody>
          <a:bodyPr wrap="square" rtlCol="0">
            <a:spAutoFit/>
          </a:bodyPr>
          <a:lstStyle/>
          <a:p>
            <a:r>
              <a:rPr lang="en-US" dirty="0">
                <a:solidFill>
                  <a:schemeClr val="bg1"/>
                </a:solidFill>
              </a:rPr>
              <a:t>The best use cases to use the App Engine are those where you want </a:t>
            </a:r>
            <a:r>
              <a:rPr lang="en-US" dirty="0">
                <a:solidFill>
                  <a:srgbClr val="FF0066"/>
                </a:solidFill>
              </a:rPr>
              <a:t>zero downtime </a:t>
            </a:r>
            <a:r>
              <a:rPr lang="en-US" dirty="0">
                <a:solidFill>
                  <a:schemeClr val="bg1"/>
                </a:solidFill>
              </a:rPr>
              <a:t>and you don’t want to:</a:t>
            </a:r>
          </a:p>
          <a:p>
            <a:endParaRPr lang="en-US" dirty="0">
              <a:solidFill>
                <a:schemeClr val="bg1"/>
              </a:solidFill>
            </a:endParaRPr>
          </a:p>
          <a:p>
            <a:r>
              <a:rPr lang="en-US" dirty="0">
                <a:solidFill>
                  <a:srgbClr val="FF0066"/>
                </a:solidFill>
              </a:rPr>
              <a:t>configure and manage</a:t>
            </a:r>
            <a:r>
              <a:rPr lang="en-US" dirty="0">
                <a:solidFill>
                  <a:schemeClr val="bg1"/>
                </a:solidFill>
              </a:rPr>
              <a:t> application infrastructure.</a:t>
            </a:r>
          </a:p>
          <a:p>
            <a:r>
              <a:rPr lang="en-US" dirty="0">
                <a:solidFill>
                  <a:schemeClr val="bg1"/>
                </a:solidFill>
              </a:rPr>
              <a:t>control security, firewalls, and SSL certificates of an application.</a:t>
            </a:r>
          </a:p>
          <a:p>
            <a:r>
              <a:rPr lang="en-US" dirty="0">
                <a:solidFill>
                  <a:schemeClr val="bg1"/>
                </a:solidFill>
              </a:rPr>
              <a:t>install and maintain packages required for the application.</a:t>
            </a:r>
          </a:p>
        </p:txBody>
      </p:sp>
      <p:sp>
        <p:nvSpPr>
          <p:cNvPr id="6" name="TextBox 5">
            <a:extLst>
              <a:ext uri="{FF2B5EF4-FFF2-40B4-BE49-F238E27FC236}">
                <a16:creationId xmlns:a16="http://schemas.microsoft.com/office/drawing/2014/main" id="{0E6EEBEC-5839-E43A-BE12-528F15B5501A}"/>
              </a:ext>
            </a:extLst>
          </p:cNvPr>
          <p:cNvSpPr txBox="1"/>
          <p:nvPr/>
        </p:nvSpPr>
        <p:spPr>
          <a:xfrm>
            <a:off x="7103532" y="1528885"/>
            <a:ext cx="3132667" cy="2585323"/>
          </a:xfrm>
          <a:prstGeom prst="rect">
            <a:avLst/>
          </a:prstGeom>
          <a:noFill/>
        </p:spPr>
        <p:txBody>
          <a:bodyPr wrap="square" rtlCol="0">
            <a:spAutoFit/>
          </a:bodyPr>
          <a:lstStyle/>
          <a:p>
            <a:r>
              <a:rPr lang="en-US" dirty="0">
                <a:solidFill>
                  <a:schemeClr val="bg1"/>
                </a:solidFill>
              </a:rPr>
              <a:t>It is better not to opt for App Engine when:</a:t>
            </a:r>
          </a:p>
          <a:p>
            <a:endParaRPr lang="en-US" dirty="0">
              <a:solidFill>
                <a:schemeClr val="bg1"/>
              </a:solidFill>
            </a:endParaRPr>
          </a:p>
          <a:p>
            <a:r>
              <a:rPr lang="en-US" dirty="0">
                <a:solidFill>
                  <a:schemeClr val="bg1"/>
                </a:solidFill>
              </a:rPr>
              <a:t>having </a:t>
            </a:r>
            <a:r>
              <a:rPr lang="en-US" dirty="0">
                <a:solidFill>
                  <a:srgbClr val="FF0066"/>
                </a:solidFill>
              </a:rPr>
              <a:t>control</a:t>
            </a:r>
            <a:r>
              <a:rPr lang="en-US" dirty="0">
                <a:solidFill>
                  <a:schemeClr val="bg1"/>
                </a:solidFill>
              </a:rPr>
              <a:t> over an underlying instance, configurations, and packages are required.</a:t>
            </a:r>
          </a:p>
          <a:p>
            <a:r>
              <a:rPr lang="en-US" dirty="0">
                <a:solidFill>
                  <a:schemeClr val="bg1"/>
                </a:solidFill>
              </a:rPr>
              <a:t>You need to run the application with </a:t>
            </a:r>
            <a:r>
              <a:rPr lang="en-US" dirty="0">
                <a:solidFill>
                  <a:srgbClr val="FF0066"/>
                </a:solidFill>
              </a:rPr>
              <a:t>customized images</a:t>
            </a:r>
          </a:p>
        </p:txBody>
      </p:sp>
      <p:pic>
        <p:nvPicPr>
          <p:cNvPr id="2054" name="Picture 6">
            <a:extLst>
              <a:ext uri="{FF2B5EF4-FFF2-40B4-BE49-F238E27FC236}">
                <a16:creationId xmlns:a16="http://schemas.microsoft.com/office/drawing/2014/main" id="{D691B558-3FF0-046A-BE46-8BE7553ACB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344" t="12660" r="26953" b="12500"/>
          <a:stretch/>
        </p:blipFill>
        <p:spPr bwMode="auto">
          <a:xfrm>
            <a:off x="2380700" y="4391207"/>
            <a:ext cx="2466793" cy="227217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djustable Wrenches | IRIMO">
            <a:extLst>
              <a:ext uri="{FF2B5EF4-FFF2-40B4-BE49-F238E27FC236}">
                <a16:creationId xmlns:a16="http://schemas.microsoft.com/office/drawing/2014/main" id="{582782ED-2B68-29BA-7C57-A14331D1B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9230189">
            <a:off x="7381303" y="4940317"/>
            <a:ext cx="2910254" cy="1173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6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6A988-1DE3-BDE6-1089-F69DE969D04C}"/>
              </a:ext>
            </a:extLst>
          </p:cNvPr>
          <p:cNvSpPr>
            <a:spLocks noGrp="1"/>
          </p:cNvSpPr>
          <p:nvPr>
            <p:ph type="title"/>
          </p:nvPr>
        </p:nvSpPr>
        <p:spPr>
          <a:xfrm>
            <a:off x="4258733" y="187325"/>
            <a:ext cx="3674533" cy="1325563"/>
          </a:xfrm>
        </p:spPr>
        <p:txBody>
          <a:bodyPr/>
          <a:lstStyle/>
          <a:p>
            <a:r>
              <a:rPr lang="en-US" dirty="0">
                <a:solidFill>
                  <a:schemeClr val="bg1"/>
                </a:solidFill>
              </a:rPr>
              <a:t>Deploying Apps</a:t>
            </a:r>
          </a:p>
        </p:txBody>
      </p:sp>
      <p:sp>
        <p:nvSpPr>
          <p:cNvPr id="7" name="TextBox 6">
            <a:extLst>
              <a:ext uri="{FF2B5EF4-FFF2-40B4-BE49-F238E27FC236}">
                <a16:creationId xmlns:a16="http://schemas.microsoft.com/office/drawing/2014/main" id="{8FCAF68A-B01C-FCA1-4339-5AF58D2D4C97}"/>
              </a:ext>
            </a:extLst>
          </p:cNvPr>
          <p:cNvSpPr txBox="1"/>
          <p:nvPr/>
        </p:nvSpPr>
        <p:spPr>
          <a:xfrm>
            <a:off x="1579032" y="1301065"/>
            <a:ext cx="9033934" cy="1200329"/>
          </a:xfrm>
          <a:prstGeom prst="rect">
            <a:avLst/>
          </a:prstGeom>
          <a:noFill/>
        </p:spPr>
        <p:txBody>
          <a:bodyPr wrap="square" rtlCol="0">
            <a:spAutoFit/>
          </a:bodyPr>
          <a:lstStyle/>
          <a:p>
            <a:r>
              <a:rPr lang="en-US" dirty="0">
                <a:solidFill>
                  <a:schemeClr val="bg1"/>
                </a:solidFill>
              </a:rPr>
              <a:t>An application resource can host many services, where each service runs your own application.</a:t>
            </a:r>
          </a:p>
          <a:p>
            <a:endParaRPr lang="en-US" dirty="0">
              <a:solidFill>
                <a:schemeClr val="bg1"/>
              </a:solidFill>
            </a:endParaRPr>
          </a:p>
          <a:p>
            <a:r>
              <a:rPr lang="en-US" dirty="0">
                <a:solidFill>
                  <a:schemeClr val="bg1"/>
                </a:solidFill>
              </a:rPr>
              <a:t>Services are defined in a file called </a:t>
            </a:r>
            <a:r>
              <a:rPr lang="en-US" dirty="0" err="1">
                <a:solidFill>
                  <a:srgbClr val="FF0066"/>
                </a:solidFill>
              </a:rPr>
              <a:t>app.yaml</a:t>
            </a:r>
            <a:endParaRPr lang="en-US" dirty="0">
              <a:solidFill>
                <a:schemeClr val="bg1"/>
              </a:solidFill>
            </a:endParaRPr>
          </a:p>
          <a:p>
            <a:r>
              <a:rPr lang="en-US" dirty="0">
                <a:solidFill>
                  <a:schemeClr val="bg1"/>
                </a:solidFill>
              </a:rPr>
              <a:t>Here is an example </a:t>
            </a:r>
            <a:r>
              <a:rPr lang="en-US" dirty="0" err="1">
                <a:solidFill>
                  <a:schemeClr val="bg1"/>
                </a:solidFill>
              </a:rPr>
              <a:t>app.yaml</a:t>
            </a:r>
            <a:r>
              <a:rPr lang="en-US" dirty="0">
                <a:solidFill>
                  <a:schemeClr val="bg1"/>
                </a:solidFill>
              </a:rPr>
              <a:t> file</a:t>
            </a:r>
          </a:p>
        </p:txBody>
      </p:sp>
      <p:grpSp>
        <p:nvGrpSpPr>
          <p:cNvPr id="18" name="Group 17">
            <a:extLst>
              <a:ext uri="{FF2B5EF4-FFF2-40B4-BE49-F238E27FC236}">
                <a16:creationId xmlns:a16="http://schemas.microsoft.com/office/drawing/2014/main" id="{8B3D7D08-5AF2-0107-4D89-C311CE9B25FA}"/>
              </a:ext>
            </a:extLst>
          </p:cNvPr>
          <p:cNvGrpSpPr/>
          <p:nvPr/>
        </p:nvGrpSpPr>
        <p:grpSpPr>
          <a:xfrm>
            <a:off x="1515461" y="2674100"/>
            <a:ext cx="10391987" cy="4082300"/>
            <a:chOff x="1647683" y="3249040"/>
            <a:chExt cx="8896631" cy="3494877"/>
          </a:xfrm>
        </p:grpSpPr>
        <p:pic>
          <p:nvPicPr>
            <p:cNvPr id="15" name="Picture 14">
              <a:extLst>
                <a:ext uri="{FF2B5EF4-FFF2-40B4-BE49-F238E27FC236}">
                  <a16:creationId xmlns:a16="http://schemas.microsoft.com/office/drawing/2014/main" id="{7D4F6E9D-7F75-874F-51A1-CDDE8702CF5C}"/>
                </a:ext>
              </a:extLst>
            </p:cNvPr>
            <p:cNvPicPr>
              <a:picLocks noChangeAspect="1"/>
            </p:cNvPicPr>
            <p:nvPr/>
          </p:nvPicPr>
          <p:blipFill rotWithShape="1">
            <a:blip r:embed="rId2"/>
            <a:srcRect t="28852"/>
            <a:stretch/>
          </p:blipFill>
          <p:spPr>
            <a:xfrm>
              <a:off x="1647683" y="3649133"/>
              <a:ext cx="8896631" cy="3094784"/>
            </a:xfrm>
            <a:prstGeom prst="rect">
              <a:avLst/>
            </a:prstGeom>
          </p:spPr>
        </p:pic>
        <p:pic>
          <p:nvPicPr>
            <p:cNvPr id="17" name="Picture 16">
              <a:extLst>
                <a:ext uri="{FF2B5EF4-FFF2-40B4-BE49-F238E27FC236}">
                  <a16:creationId xmlns:a16="http://schemas.microsoft.com/office/drawing/2014/main" id="{E674CD33-10CB-71EB-1DE7-AEED265C6168}"/>
                </a:ext>
              </a:extLst>
            </p:cNvPr>
            <p:cNvPicPr>
              <a:picLocks noChangeAspect="1"/>
            </p:cNvPicPr>
            <p:nvPr/>
          </p:nvPicPr>
          <p:blipFill>
            <a:blip r:embed="rId3"/>
            <a:stretch>
              <a:fillRect/>
            </a:stretch>
          </p:blipFill>
          <p:spPr>
            <a:xfrm>
              <a:off x="1647683" y="3249040"/>
              <a:ext cx="8896631" cy="400094"/>
            </a:xfrm>
            <a:prstGeom prst="rect">
              <a:avLst/>
            </a:prstGeom>
          </p:spPr>
        </p:pic>
      </p:grpSp>
      <p:cxnSp>
        <p:nvCxnSpPr>
          <p:cNvPr id="22" name="Straight Arrow Connector 21">
            <a:extLst>
              <a:ext uri="{FF2B5EF4-FFF2-40B4-BE49-F238E27FC236}">
                <a16:creationId xmlns:a16="http://schemas.microsoft.com/office/drawing/2014/main" id="{52D0548E-17B3-BF7C-9ABC-051E7F69E22E}"/>
              </a:ext>
            </a:extLst>
          </p:cNvPr>
          <p:cNvCxnSpPr/>
          <p:nvPr/>
        </p:nvCxnSpPr>
        <p:spPr>
          <a:xfrm>
            <a:off x="736600" y="5621865"/>
            <a:ext cx="9652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1DBE712-7CF5-9691-1DB2-1F6C6C8341DC}"/>
              </a:ext>
            </a:extLst>
          </p:cNvPr>
          <p:cNvCxnSpPr/>
          <p:nvPr/>
        </p:nvCxnSpPr>
        <p:spPr>
          <a:xfrm>
            <a:off x="736600" y="6654799"/>
            <a:ext cx="9652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77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0884-88B4-D777-0FC7-786A22D8029C}"/>
              </a:ext>
            </a:extLst>
          </p:cNvPr>
          <p:cNvSpPr>
            <a:spLocks noGrp="1"/>
          </p:cNvSpPr>
          <p:nvPr>
            <p:ph type="title"/>
          </p:nvPr>
        </p:nvSpPr>
        <p:spPr>
          <a:xfrm>
            <a:off x="3886200" y="305858"/>
            <a:ext cx="4419600" cy="1325563"/>
          </a:xfrm>
        </p:spPr>
        <p:txBody>
          <a:bodyPr/>
          <a:lstStyle/>
          <a:p>
            <a:r>
              <a:rPr lang="en-US" dirty="0" err="1">
                <a:solidFill>
                  <a:schemeClr val="bg1"/>
                </a:solidFill>
              </a:rPr>
              <a:t>Gcloud</a:t>
            </a:r>
            <a:r>
              <a:rPr lang="en-US" dirty="0">
                <a:solidFill>
                  <a:schemeClr val="bg1"/>
                </a:solidFill>
              </a:rPr>
              <a:t> app deploy</a:t>
            </a:r>
          </a:p>
        </p:txBody>
      </p:sp>
      <p:pic>
        <p:nvPicPr>
          <p:cNvPr id="6" name="Picture 5">
            <a:extLst>
              <a:ext uri="{FF2B5EF4-FFF2-40B4-BE49-F238E27FC236}">
                <a16:creationId xmlns:a16="http://schemas.microsoft.com/office/drawing/2014/main" id="{F8209411-2466-A4E7-668D-3F6BBC081B75}"/>
              </a:ext>
            </a:extLst>
          </p:cNvPr>
          <p:cNvPicPr>
            <a:picLocks noChangeAspect="1"/>
          </p:cNvPicPr>
          <p:nvPr/>
        </p:nvPicPr>
        <p:blipFill>
          <a:blip r:embed="rId2"/>
          <a:stretch>
            <a:fillRect/>
          </a:stretch>
        </p:blipFill>
        <p:spPr>
          <a:xfrm>
            <a:off x="604071" y="2005211"/>
            <a:ext cx="10983858" cy="4744112"/>
          </a:xfrm>
          <a:prstGeom prst="rect">
            <a:avLst/>
          </a:prstGeom>
        </p:spPr>
      </p:pic>
      <p:pic>
        <p:nvPicPr>
          <p:cNvPr id="4" name="Picture 3">
            <a:extLst>
              <a:ext uri="{FF2B5EF4-FFF2-40B4-BE49-F238E27FC236}">
                <a16:creationId xmlns:a16="http://schemas.microsoft.com/office/drawing/2014/main" id="{A06541E7-F3A6-A88C-3B8B-4EE3423E72AE}"/>
              </a:ext>
            </a:extLst>
          </p:cNvPr>
          <p:cNvPicPr>
            <a:picLocks noChangeAspect="1"/>
          </p:cNvPicPr>
          <p:nvPr/>
        </p:nvPicPr>
        <p:blipFill rotWithShape="1">
          <a:blip r:embed="rId3"/>
          <a:srcRect l="1469" r="5025"/>
          <a:stretch/>
        </p:blipFill>
        <p:spPr>
          <a:xfrm>
            <a:off x="6180992" y="3229199"/>
            <a:ext cx="5406937" cy="1260910"/>
          </a:xfrm>
          <a:prstGeom prst="rect">
            <a:avLst/>
          </a:prstGeom>
        </p:spPr>
      </p:pic>
      <p:pic>
        <p:nvPicPr>
          <p:cNvPr id="3076" name="Picture 4" descr="Rewind Button PNG Image File | PNG All">
            <a:extLst>
              <a:ext uri="{FF2B5EF4-FFF2-40B4-BE49-F238E27FC236}">
                <a16:creationId xmlns:a16="http://schemas.microsoft.com/office/drawing/2014/main" id="{ECCAD9FC-ECB0-494D-C7FC-37EAA3D5D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4996" y="2343708"/>
            <a:ext cx="1548912" cy="1085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982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PsBattle: Pig waiting in front of oven : r/photoshopbattles">
            <a:extLst>
              <a:ext uri="{FF2B5EF4-FFF2-40B4-BE49-F238E27FC236}">
                <a16:creationId xmlns:a16="http://schemas.microsoft.com/office/drawing/2014/main" id="{6F032516-F618-EB5E-0F9A-3CBA968005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960" y="1380932"/>
            <a:ext cx="3550075" cy="28901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821D818-18EF-3187-DA07-1BF203D44CBA}"/>
              </a:ext>
            </a:extLst>
          </p:cNvPr>
          <p:cNvSpPr>
            <a:spLocks noGrp="1"/>
          </p:cNvSpPr>
          <p:nvPr>
            <p:ph type="title"/>
          </p:nvPr>
        </p:nvSpPr>
        <p:spPr>
          <a:xfrm>
            <a:off x="4474633" y="280458"/>
            <a:ext cx="3242733" cy="1325563"/>
          </a:xfrm>
        </p:spPr>
        <p:txBody>
          <a:bodyPr/>
          <a:lstStyle/>
          <a:p>
            <a:r>
              <a:rPr lang="en-US" dirty="0">
                <a:solidFill>
                  <a:schemeClr val="bg1"/>
                </a:solidFill>
              </a:rPr>
              <a:t>What`s next?</a:t>
            </a:r>
          </a:p>
        </p:txBody>
      </p:sp>
      <p:pic>
        <p:nvPicPr>
          <p:cNvPr id="4" name="Picture 3">
            <a:extLst>
              <a:ext uri="{FF2B5EF4-FFF2-40B4-BE49-F238E27FC236}">
                <a16:creationId xmlns:a16="http://schemas.microsoft.com/office/drawing/2014/main" id="{8BE289A8-28D4-A7AA-D0A6-6A9E08A3D3D1}"/>
              </a:ext>
            </a:extLst>
          </p:cNvPr>
          <p:cNvPicPr>
            <a:picLocks noChangeAspect="1"/>
          </p:cNvPicPr>
          <p:nvPr/>
        </p:nvPicPr>
        <p:blipFill>
          <a:blip r:embed="rId3"/>
          <a:stretch>
            <a:fillRect/>
          </a:stretch>
        </p:blipFill>
        <p:spPr>
          <a:xfrm>
            <a:off x="702907" y="4184163"/>
            <a:ext cx="10786185" cy="2696547"/>
          </a:xfrm>
          <a:prstGeom prst="rect">
            <a:avLst/>
          </a:prstGeom>
        </p:spPr>
      </p:pic>
    </p:spTree>
    <p:extLst>
      <p:ext uri="{BB962C8B-B14F-4D97-AF65-F5344CB8AC3E}">
        <p14:creationId xmlns:p14="http://schemas.microsoft.com/office/powerpoint/2010/main" val="938602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9CFB-64AB-A48F-4421-D50FFE042F1D}"/>
              </a:ext>
            </a:extLst>
          </p:cNvPr>
          <p:cNvSpPr>
            <a:spLocks noGrp="1"/>
          </p:cNvSpPr>
          <p:nvPr>
            <p:ph type="title"/>
          </p:nvPr>
        </p:nvSpPr>
        <p:spPr>
          <a:xfrm>
            <a:off x="5479073" y="375871"/>
            <a:ext cx="1233854" cy="644037"/>
          </a:xfrm>
        </p:spPr>
        <p:txBody>
          <a:bodyPr>
            <a:normAutofit fontScale="90000"/>
          </a:bodyPr>
          <a:lstStyle/>
          <a:p>
            <a:r>
              <a:rPr lang="en-US" dirty="0">
                <a:solidFill>
                  <a:schemeClr val="bg1"/>
                </a:solidFill>
              </a:rPr>
              <a:t>Then</a:t>
            </a:r>
          </a:p>
        </p:txBody>
      </p:sp>
      <p:pic>
        <p:nvPicPr>
          <p:cNvPr id="9218" name="Picture 2" descr="Eliminar la grasa de la bandeja del horno">
            <a:extLst>
              <a:ext uri="{FF2B5EF4-FFF2-40B4-BE49-F238E27FC236}">
                <a16:creationId xmlns:a16="http://schemas.microsoft.com/office/drawing/2014/main" id="{EC66E699-EFB8-D6B4-0BAD-F5E1A9E10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7433"/>
            <a:ext cx="4623273" cy="308313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538A2A2-13B3-406E-83D8-83B1216EA9C2}"/>
              </a:ext>
            </a:extLst>
          </p:cNvPr>
          <p:cNvPicPr>
            <a:picLocks noChangeAspect="1"/>
          </p:cNvPicPr>
          <p:nvPr/>
        </p:nvPicPr>
        <p:blipFill>
          <a:blip r:embed="rId3"/>
          <a:stretch>
            <a:fillRect/>
          </a:stretch>
        </p:blipFill>
        <p:spPr>
          <a:xfrm>
            <a:off x="4140278" y="1887433"/>
            <a:ext cx="8051722" cy="3083134"/>
          </a:xfrm>
          <a:prstGeom prst="rect">
            <a:avLst/>
          </a:prstGeom>
        </p:spPr>
      </p:pic>
    </p:spTree>
    <p:extLst>
      <p:ext uri="{BB962C8B-B14F-4D97-AF65-F5344CB8AC3E}">
        <p14:creationId xmlns:p14="http://schemas.microsoft.com/office/powerpoint/2010/main" val="4268410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BE44-303E-011D-BD01-CA92D78A0F19}"/>
              </a:ext>
            </a:extLst>
          </p:cNvPr>
          <p:cNvSpPr>
            <a:spLocks noGrp="1"/>
          </p:cNvSpPr>
          <p:nvPr>
            <p:ph type="title"/>
          </p:nvPr>
        </p:nvSpPr>
        <p:spPr>
          <a:xfrm>
            <a:off x="3719146" y="494674"/>
            <a:ext cx="4753708" cy="1015267"/>
          </a:xfrm>
        </p:spPr>
        <p:txBody>
          <a:bodyPr/>
          <a:lstStyle/>
          <a:p>
            <a:r>
              <a:rPr lang="en-US" dirty="0">
                <a:solidFill>
                  <a:schemeClr val="bg1"/>
                </a:solidFill>
              </a:rPr>
              <a:t>Cloud Console View</a:t>
            </a:r>
          </a:p>
        </p:txBody>
      </p:sp>
      <p:pic>
        <p:nvPicPr>
          <p:cNvPr id="4" name="Picture 3">
            <a:extLst>
              <a:ext uri="{FF2B5EF4-FFF2-40B4-BE49-F238E27FC236}">
                <a16:creationId xmlns:a16="http://schemas.microsoft.com/office/drawing/2014/main" id="{0935367E-1424-3A27-2866-A46B316B7EB0}"/>
              </a:ext>
            </a:extLst>
          </p:cNvPr>
          <p:cNvPicPr>
            <a:picLocks noChangeAspect="1"/>
          </p:cNvPicPr>
          <p:nvPr/>
        </p:nvPicPr>
        <p:blipFill>
          <a:blip r:embed="rId2"/>
          <a:stretch>
            <a:fillRect/>
          </a:stretch>
        </p:blipFill>
        <p:spPr>
          <a:xfrm>
            <a:off x="0" y="2204940"/>
            <a:ext cx="12192000" cy="4158386"/>
          </a:xfrm>
          <a:prstGeom prst="rect">
            <a:avLst/>
          </a:prstGeom>
        </p:spPr>
      </p:pic>
    </p:spTree>
    <p:extLst>
      <p:ext uri="{BB962C8B-B14F-4D97-AF65-F5344CB8AC3E}">
        <p14:creationId xmlns:p14="http://schemas.microsoft.com/office/powerpoint/2010/main" val="2474659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908D-0894-5A00-BA46-7B6B65A726A8}"/>
              </a:ext>
            </a:extLst>
          </p:cNvPr>
          <p:cNvSpPr>
            <a:spLocks noGrp="1"/>
          </p:cNvSpPr>
          <p:nvPr>
            <p:ph type="title"/>
          </p:nvPr>
        </p:nvSpPr>
        <p:spPr>
          <a:xfrm>
            <a:off x="4158761" y="655273"/>
            <a:ext cx="3874477" cy="760290"/>
          </a:xfrm>
        </p:spPr>
        <p:txBody>
          <a:bodyPr/>
          <a:lstStyle/>
          <a:p>
            <a:r>
              <a:rPr lang="en-US" dirty="0">
                <a:solidFill>
                  <a:schemeClr val="bg1"/>
                </a:solidFill>
              </a:rPr>
              <a:t>Traffic Split View</a:t>
            </a:r>
          </a:p>
        </p:txBody>
      </p:sp>
      <p:pic>
        <p:nvPicPr>
          <p:cNvPr id="4" name="Picture 3">
            <a:extLst>
              <a:ext uri="{FF2B5EF4-FFF2-40B4-BE49-F238E27FC236}">
                <a16:creationId xmlns:a16="http://schemas.microsoft.com/office/drawing/2014/main" id="{DA8CF281-8995-3967-2B6B-1C66BC3C4720}"/>
              </a:ext>
            </a:extLst>
          </p:cNvPr>
          <p:cNvPicPr>
            <a:picLocks noChangeAspect="1"/>
          </p:cNvPicPr>
          <p:nvPr/>
        </p:nvPicPr>
        <p:blipFill>
          <a:blip r:embed="rId2"/>
          <a:stretch>
            <a:fillRect/>
          </a:stretch>
        </p:blipFill>
        <p:spPr>
          <a:xfrm>
            <a:off x="0" y="1977186"/>
            <a:ext cx="12192000" cy="2212104"/>
          </a:xfrm>
          <a:prstGeom prst="rect">
            <a:avLst/>
          </a:prstGeom>
        </p:spPr>
      </p:pic>
      <p:pic>
        <p:nvPicPr>
          <p:cNvPr id="6146" name="Picture 2" descr="Monitor network traffic with PRTG">
            <a:extLst>
              <a:ext uri="{FF2B5EF4-FFF2-40B4-BE49-F238E27FC236}">
                <a16:creationId xmlns:a16="http://schemas.microsoft.com/office/drawing/2014/main" id="{2A6F8BDD-2281-7C87-5130-E055683DB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734" y="4290646"/>
            <a:ext cx="2603963" cy="236439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079BA8A-3932-BCA3-3393-880AF2BCAC3F}"/>
              </a:ext>
            </a:extLst>
          </p:cNvPr>
          <p:cNvSpPr txBox="1"/>
          <p:nvPr/>
        </p:nvSpPr>
        <p:spPr>
          <a:xfrm>
            <a:off x="5451231" y="4564904"/>
            <a:ext cx="4703885" cy="1815882"/>
          </a:xfrm>
          <a:prstGeom prst="rect">
            <a:avLst/>
          </a:prstGeom>
          <a:noFill/>
        </p:spPr>
        <p:txBody>
          <a:bodyPr wrap="square" rtlCol="0">
            <a:spAutoFit/>
          </a:bodyPr>
          <a:lstStyle/>
          <a:p>
            <a:pPr algn="ctr"/>
            <a:r>
              <a:rPr lang="en-US" sz="2800" dirty="0">
                <a:solidFill>
                  <a:schemeClr val="bg1"/>
                </a:solidFill>
              </a:rPr>
              <a:t>Because there is only just one instance all the traffic is serving this application</a:t>
            </a:r>
          </a:p>
          <a:p>
            <a:pPr algn="ctr"/>
            <a:r>
              <a:rPr lang="en-US" sz="2800" dirty="0">
                <a:solidFill>
                  <a:schemeClr val="bg1"/>
                </a:solidFill>
              </a:rPr>
              <a:t>version</a:t>
            </a:r>
          </a:p>
        </p:txBody>
      </p:sp>
    </p:spTree>
    <p:extLst>
      <p:ext uri="{BB962C8B-B14F-4D97-AF65-F5344CB8AC3E}">
        <p14:creationId xmlns:p14="http://schemas.microsoft.com/office/powerpoint/2010/main" val="2021781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0722-E27B-BE83-CA6C-87BBF6856C33}"/>
              </a:ext>
            </a:extLst>
          </p:cNvPr>
          <p:cNvSpPr>
            <a:spLocks noGrp="1"/>
          </p:cNvSpPr>
          <p:nvPr>
            <p:ph type="title"/>
          </p:nvPr>
        </p:nvSpPr>
        <p:spPr>
          <a:xfrm>
            <a:off x="3930161" y="338748"/>
            <a:ext cx="4331677" cy="1325563"/>
          </a:xfrm>
        </p:spPr>
        <p:txBody>
          <a:bodyPr/>
          <a:lstStyle/>
          <a:p>
            <a:r>
              <a:rPr lang="en-US" dirty="0">
                <a:solidFill>
                  <a:schemeClr val="bg1"/>
                </a:solidFill>
              </a:rPr>
              <a:t>Deployed Instance</a:t>
            </a:r>
          </a:p>
        </p:txBody>
      </p:sp>
      <p:pic>
        <p:nvPicPr>
          <p:cNvPr id="4" name="Picture 3">
            <a:extLst>
              <a:ext uri="{FF2B5EF4-FFF2-40B4-BE49-F238E27FC236}">
                <a16:creationId xmlns:a16="http://schemas.microsoft.com/office/drawing/2014/main" id="{714448FB-D88B-F528-BAE5-C1EF4A11D303}"/>
              </a:ext>
            </a:extLst>
          </p:cNvPr>
          <p:cNvPicPr>
            <a:picLocks noChangeAspect="1"/>
          </p:cNvPicPr>
          <p:nvPr/>
        </p:nvPicPr>
        <p:blipFill>
          <a:blip r:embed="rId2"/>
          <a:stretch>
            <a:fillRect/>
          </a:stretch>
        </p:blipFill>
        <p:spPr>
          <a:xfrm>
            <a:off x="0" y="1730879"/>
            <a:ext cx="12192000" cy="5127121"/>
          </a:xfrm>
          <a:prstGeom prst="rect">
            <a:avLst/>
          </a:prstGeom>
        </p:spPr>
      </p:pic>
    </p:spTree>
    <p:extLst>
      <p:ext uri="{BB962C8B-B14F-4D97-AF65-F5344CB8AC3E}">
        <p14:creationId xmlns:p14="http://schemas.microsoft.com/office/powerpoint/2010/main" val="4157784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A05B-3C34-D652-802E-73C6DCEF7155}"/>
              </a:ext>
            </a:extLst>
          </p:cNvPr>
          <p:cNvSpPr>
            <a:spLocks noGrp="1"/>
          </p:cNvSpPr>
          <p:nvPr>
            <p:ph type="title"/>
          </p:nvPr>
        </p:nvSpPr>
        <p:spPr>
          <a:xfrm>
            <a:off x="2387600" y="320613"/>
            <a:ext cx="7416800" cy="1325563"/>
          </a:xfrm>
        </p:spPr>
        <p:txBody>
          <a:bodyPr/>
          <a:lstStyle/>
          <a:p>
            <a:r>
              <a:rPr lang="en-US" dirty="0">
                <a:solidFill>
                  <a:schemeClr val="bg1"/>
                </a:solidFill>
              </a:rPr>
              <a:t>Scaling App Engine Applications</a:t>
            </a:r>
          </a:p>
        </p:txBody>
      </p:sp>
      <p:sp>
        <p:nvSpPr>
          <p:cNvPr id="3" name="TextBox 2">
            <a:extLst>
              <a:ext uri="{FF2B5EF4-FFF2-40B4-BE49-F238E27FC236}">
                <a16:creationId xmlns:a16="http://schemas.microsoft.com/office/drawing/2014/main" id="{E443A405-2923-A2CF-D8C3-87B028D48EFD}"/>
              </a:ext>
            </a:extLst>
          </p:cNvPr>
          <p:cNvSpPr txBox="1"/>
          <p:nvPr/>
        </p:nvSpPr>
        <p:spPr>
          <a:xfrm>
            <a:off x="491067" y="1809354"/>
            <a:ext cx="6350000" cy="1738312"/>
          </a:xfrm>
          <a:prstGeom prst="rect">
            <a:avLst/>
          </a:prstGeom>
          <a:noFill/>
        </p:spPr>
        <p:txBody>
          <a:bodyPr wrap="square" rtlCol="0">
            <a:spAutoFit/>
          </a:bodyPr>
          <a:lstStyle/>
          <a:p>
            <a:r>
              <a:rPr lang="en-US" dirty="0">
                <a:solidFill>
                  <a:schemeClr val="bg1"/>
                </a:solidFill>
              </a:rPr>
              <a:t>Instances are created to execute an application on an App Engine managed server. App Engine can automatically </a:t>
            </a:r>
            <a:r>
              <a:rPr lang="en-US" dirty="0">
                <a:solidFill>
                  <a:srgbClr val="FF0066"/>
                </a:solidFill>
              </a:rPr>
              <a:t>add or remove instances as needed based on load</a:t>
            </a:r>
            <a:r>
              <a:rPr lang="en-US" dirty="0">
                <a:solidFill>
                  <a:schemeClr val="bg1"/>
                </a:solidFill>
              </a:rPr>
              <a:t>. When instances are scaled based on load, they are called </a:t>
            </a:r>
            <a:r>
              <a:rPr lang="en-US" dirty="0">
                <a:solidFill>
                  <a:srgbClr val="FF0066"/>
                </a:solidFill>
              </a:rPr>
              <a:t>dynamic instances</a:t>
            </a:r>
            <a:r>
              <a:rPr lang="en-US" dirty="0">
                <a:solidFill>
                  <a:schemeClr val="bg1"/>
                </a:solidFill>
              </a:rPr>
              <a:t>. These dynamic instances help optimize your costs by shutting down when demand is low</a:t>
            </a:r>
          </a:p>
        </p:txBody>
      </p:sp>
      <p:sp>
        <p:nvSpPr>
          <p:cNvPr id="5" name="TextBox 4">
            <a:extLst>
              <a:ext uri="{FF2B5EF4-FFF2-40B4-BE49-F238E27FC236}">
                <a16:creationId xmlns:a16="http://schemas.microsoft.com/office/drawing/2014/main" id="{A774BAD0-88FC-B7F2-3175-C035CC075166}"/>
              </a:ext>
            </a:extLst>
          </p:cNvPr>
          <p:cNvSpPr txBox="1"/>
          <p:nvPr/>
        </p:nvSpPr>
        <p:spPr>
          <a:xfrm>
            <a:off x="5430716" y="4345355"/>
            <a:ext cx="6096000" cy="2031325"/>
          </a:xfrm>
          <a:prstGeom prst="rect">
            <a:avLst/>
          </a:prstGeom>
          <a:noFill/>
        </p:spPr>
        <p:txBody>
          <a:bodyPr wrap="square">
            <a:spAutoFit/>
          </a:bodyPr>
          <a:lstStyle/>
          <a:p>
            <a:r>
              <a:rPr lang="en-US" dirty="0">
                <a:solidFill>
                  <a:schemeClr val="bg1"/>
                </a:solidFill>
              </a:rPr>
              <a:t>Alternatively, you can </a:t>
            </a:r>
            <a:r>
              <a:rPr lang="en-US" dirty="0">
                <a:solidFill>
                  <a:srgbClr val="FF0066"/>
                </a:solidFill>
              </a:rPr>
              <a:t>configure your instances to be resident </a:t>
            </a:r>
            <a:r>
              <a:rPr lang="en-US" dirty="0">
                <a:solidFill>
                  <a:schemeClr val="bg1"/>
                </a:solidFill>
              </a:rPr>
              <a:t>or running all the time. These are optimized for performance so users will wait less while an instance is started. Your configuration determines whether an instance is resident or dynamic. If you configure autoscaling or basic scaling, then instances will be dynamic. </a:t>
            </a:r>
            <a:r>
              <a:rPr lang="en-US" dirty="0">
                <a:solidFill>
                  <a:srgbClr val="FF0066"/>
                </a:solidFill>
              </a:rPr>
              <a:t>If you configure manual scaling, then your instances will be resident</a:t>
            </a:r>
            <a:r>
              <a:rPr lang="en-US" dirty="0">
                <a:solidFill>
                  <a:schemeClr val="bg1"/>
                </a:solidFill>
              </a:rPr>
              <a:t>.</a:t>
            </a:r>
          </a:p>
        </p:txBody>
      </p:sp>
      <p:pic>
        <p:nvPicPr>
          <p:cNvPr id="5122" name="Picture 2" descr="Database Scaling: Horizontal and Vertical Scaling | by Nandhini Saravanan |  HackerNoon.com | Medium">
            <a:extLst>
              <a:ext uri="{FF2B5EF4-FFF2-40B4-BE49-F238E27FC236}">
                <a16:creationId xmlns:a16="http://schemas.microsoft.com/office/drawing/2014/main" id="{B4173B97-AE4A-0075-68EA-1A6F4B99D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1754" y="1576327"/>
            <a:ext cx="4234962" cy="238216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Buy-A-Brick — North Haven Sustainable Housing">
            <a:extLst>
              <a:ext uri="{FF2B5EF4-FFF2-40B4-BE49-F238E27FC236}">
                <a16:creationId xmlns:a16="http://schemas.microsoft.com/office/drawing/2014/main" id="{3E9F28AF-F1F9-86CF-280F-91BB4E9FA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662" y="3911263"/>
            <a:ext cx="2899507" cy="2899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258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6B6B5-2B0A-AA77-DEAC-D71102C32C0B}"/>
              </a:ext>
            </a:extLst>
          </p:cNvPr>
          <p:cNvSpPr>
            <a:spLocks noGrp="1"/>
          </p:cNvSpPr>
          <p:nvPr>
            <p:ph type="title"/>
          </p:nvPr>
        </p:nvSpPr>
        <p:spPr>
          <a:xfrm>
            <a:off x="838200" y="365125"/>
            <a:ext cx="7349067" cy="1325563"/>
          </a:xfrm>
        </p:spPr>
        <p:txBody>
          <a:bodyPr/>
          <a:lstStyle/>
          <a:p>
            <a:r>
              <a:rPr lang="en-US" dirty="0">
                <a:solidFill>
                  <a:schemeClr val="bg1"/>
                </a:solidFill>
              </a:rPr>
              <a:t>Scaling App Engine Applications</a:t>
            </a:r>
            <a:endParaRPr lang="en-US" dirty="0"/>
          </a:p>
        </p:txBody>
      </p:sp>
      <p:sp>
        <p:nvSpPr>
          <p:cNvPr id="4" name="TextBox 3">
            <a:extLst>
              <a:ext uri="{FF2B5EF4-FFF2-40B4-BE49-F238E27FC236}">
                <a16:creationId xmlns:a16="http://schemas.microsoft.com/office/drawing/2014/main" id="{59AF298E-329D-B977-E2CA-87517270F662}"/>
              </a:ext>
            </a:extLst>
          </p:cNvPr>
          <p:cNvSpPr txBox="1"/>
          <p:nvPr/>
        </p:nvSpPr>
        <p:spPr>
          <a:xfrm>
            <a:off x="761999" y="1806770"/>
            <a:ext cx="8043333" cy="4801314"/>
          </a:xfrm>
          <a:prstGeom prst="rect">
            <a:avLst/>
          </a:prstGeom>
          <a:noFill/>
        </p:spPr>
        <p:txBody>
          <a:bodyPr wrap="square">
            <a:spAutoFit/>
          </a:bodyPr>
          <a:lstStyle/>
          <a:p>
            <a:r>
              <a:rPr lang="en-US" dirty="0">
                <a:solidFill>
                  <a:schemeClr val="bg1"/>
                </a:solidFill>
              </a:rPr>
              <a:t>To specify automatic scaling, add a section to </a:t>
            </a:r>
            <a:r>
              <a:rPr lang="en-US" dirty="0" err="1">
                <a:solidFill>
                  <a:schemeClr val="bg1"/>
                </a:solidFill>
              </a:rPr>
              <a:t>app.yaml</a:t>
            </a:r>
            <a:r>
              <a:rPr lang="en-US" dirty="0">
                <a:solidFill>
                  <a:schemeClr val="bg1"/>
                </a:solidFill>
              </a:rPr>
              <a:t> that includes the term </a:t>
            </a:r>
            <a:r>
              <a:rPr lang="en-US" dirty="0" err="1">
                <a:solidFill>
                  <a:schemeClr val="bg1"/>
                </a:solidFill>
              </a:rPr>
              <a:t>automatic_scaling</a:t>
            </a:r>
            <a:r>
              <a:rPr lang="en-US" dirty="0">
                <a:solidFill>
                  <a:schemeClr val="bg1"/>
                </a:solidFill>
              </a:rPr>
              <a:t> followed by key-value pairs of configuration options. </a:t>
            </a:r>
          </a:p>
          <a:p>
            <a:r>
              <a:rPr lang="en-US" dirty="0">
                <a:solidFill>
                  <a:schemeClr val="bg1"/>
                </a:solidFill>
              </a:rPr>
              <a:t>These include the following: </a:t>
            </a:r>
          </a:p>
          <a:p>
            <a:endParaRPr lang="en-US" dirty="0">
              <a:solidFill>
                <a:schemeClr val="bg1"/>
              </a:solidFill>
            </a:endParaRPr>
          </a:p>
          <a:p>
            <a:r>
              <a:rPr lang="en-US" dirty="0">
                <a:solidFill>
                  <a:schemeClr val="bg1"/>
                </a:solidFill>
              </a:rPr>
              <a:t>■ </a:t>
            </a:r>
            <a:r>
              <a:rPr lang="en-US" dirty="0" err="1">
                <a:solidFill>
                  <a:schemeClr val="bg1"/>
                </a:solidFill>
              </a:rPr>
              <a:t>target_cpu_utilization</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target_throughput_utilization</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max_concurrent_requests</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max_instances</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min_instances</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max_pending_latency</a:t>
            </a:r>
            <a:r>
              <a:rPr lang="en-US" dirty="0">
                <a:solidFill>
                  <a:schemeClr val="bg1"/>
                </a:solidFill>
              </a:rPr>
              <a:t> </a:t>
            </a:r>
          </a:p>
          <a:p>
            <a:endParaRPr lang="en-US" dirty="0">
              <a:solidFill>
                <a:schemeClr val="bg1"/>
              </a:solidFill>
            </a:endParaRPr>
          </a:p>
          <a:p>
            <a:r>
              <a:rPr lang="en-US" dirty="0">
                <a:solidFill>
                  <a:schemeClr val="bg1"/>
                </a:solidFill>
              </a:rPr>
              <a:t>■ </a:t>
            </a:r>
            <a:r>
              <a:rPr lang="en-US" dirty="0" err="1">
                <a:solidFill>
                  <a:schemeClr val="bg1"/>
                </a:solidFill>
              </a:rPr>
              <a:t>min_pending_latency</a:t>
            </a:r>
            <a:endParaRPr lang="en-US" dirty="0">
              <a:solidFill>
                <a:schemeClr val="bg1"/>
              </a:solidFill>
            </a:endParaRPr>
          </a:p>
        </p:txBody>
      </p:sp>
      <p:sp>
        <p:nvSpPr>
          <p:cNvPr id="6" name="TextBox 5">
            <a:extLst>
              <a:ext uri="{FF2B5EF4-FFF2-40B4-BE49-F238E27FC236}">
                <a16:creationId xmlns:a16="http://schemas.microsoft.com/office/drawing/2014/main" id="{A71DA580-6D35-7F95-0EE1-C8DCEB84267E}"/>
              </a:ext>
            </a:extLst>
          </p:cNvPr>
          <p:cNvSpPr txBox="1"/>
          <p:nvPr/>
        </p:nvSpPr>
        <p:spPr>
          <a:xfrm>
            <a:off x="3606800" y="2660896"/>
            <a:ext cx="6096000" cy="646331"/>
          </a:xfrm>
          <a:prstGeom prst="rect">
            <a:avLst/>
          </a:prstGeom>
          <a:noFill/>
        </p:spPr>
        <p:txBody>
          <a:bodyPr wrap="square">
            <a:spAutoFit/>
          </a:bodyPr>
          <a:lstStyle/>
          <a:p>
            <a:r>
              <a:rPr lang="en-US" dirty="0">
                <a:solidFill>
                  <a:srgbClr val="00B0F0"/>
                </a:solidFill>
              </a:rPr>
              <a:t>Target CPU Utilization Specifies the maximum CPU utilization that occurs before additional instances are started. </a:t>
            </a:r>
          </a:p>
        </p:txBody>
      </p:sp>
      <p:sp>
        <p:nvSpPr>
          <p:cNvPr id="8" name="TextBox 7">
            <a:extLst>
              <a:ext uri="{FF2B5EF4-FFF2-40B4-BE49-F238E27FC236}">
                <a16:creationId xmlns:a16="http://schemas.microsoft.com/office/drawing/2014/main" id="{62B0353D-F283-4866-C5D5-D4002D00C30D}"/>
              </a:ext>
            </a:extLst>
          </p:cNvPr>
          <p:cNvSpPr txBox="1"/>
          <p:nvPr/>
        </p:nvSpPr>
        <p:spPr>
          <a:xfrm>
            <a:off x="3928533" y="3272579"/>
            <a:ext cx="6096000" cy="646331"/>
          </a:xfrm>
          <a:prstGeom prst="rect">
            <a:avLst/>
          </a:prstGeom>
          <a:noFill/>
        </p:spPr>
        <p:txBody>
          <a:bodyPr wrap="square">
            <a:spAutoFit/>
          </a:bodyPr>
          <a:lstStyle/>
          <a:p>
            <a:r>
              <a:rPr lang="en-US" dirty="0">
                <a:solidFill>
                  <a:srgbClr val="92D050"/>
                </a:solidFill>
              </a:rPr>
              <a:t>Maximum number of concurrent requests before additional instances are started. Between 0.5 and 0.95.</a:t>
            </a:r>
          </a:p>
        </p:txBody>
      </p:sp>
      <p:sp>
        <p:nvSpPr>
          <p:cNvPr id="10" name="TextBox 9">
            <a:extLst>
              <a:ext uri="{FF2B5EF4-FFF2-40B4-BE49-F238E27FC236}">
                <a16:creationId xmlns:a16="http://schemas.microsoft.com/office/drawing/2014/main" id="{EA966D24-5BE2-4405-76BE-DA785C4C2C3F}"/>
              </a:ext>
            </a:extLst>
          </p:cNvPr>
          <p:cNvSpPr txBox="1"/>
          <p:nvPr/>
        </p:nvSpPr>
        <p:spPr>
          <a:xfrm>
            <a:off x="3606800" y="3876722"/>
            <a:ext cx="6096000" cy="646331"/>
          </a:xfrm>
          <a:prstGeom prst="rect">
            <a:avLst/>
          </a:prstGeom>
          <a:noFill/>
        </p:spPr>
        <p:txBody>
          <a:bodyPr wrap="square">
            <a:spAutoFit/>
          </a:bodyPr>
          <a:lstStyle/>
          <a:p>
            <a:r>
              <a:rPr lang="en-US" dirty="0">
                <a:solidFill>
                  <a:srgbClr val="00B0F0"/>
                </a:solidFill>
              </a:rPr>
              <a:t>Specifies the max concurrent requests an instance can accept before starting a new instance. The default is 10; the max is 80</a:t>
            </a:r>
          </a:p>
        </p:txBody>
      </p:sp>
      <p:sp>
        <p:nvSpPr>
          <p:cNvPr id="12" name="TextBox 11">
            <a:extLst>
              <a:ext uri="{FF2B5EF4-FFF2-40B4-BE49-F238E27FC236}">
                <a16:creationId xmlns:a16="http://schemas.microsoft.com/office/drawing/2014/main" id="{EA83FDF1-0EF4-BDB8-4A58-9C4E4B58773D}"/>
              </a:ext>
            </a:extLst>
          </p:cNvPr>
          <p:cNvSpPr txBox="1"/>
          <p:nvPr/>
        </p:nvSpPr>
        <p:spPr>
          <a:xfrm>
            <a:off x="3979335" y="4797759"/>
            <a:ext cx="6096000" cy="369332"/>
          </a:xfrm>
          <a:prstGeom prst="rect">
            <a:avLst/>
          </a:prstGeom>
          <a:noFill/>
        </p:spPr>
        <p:txBody>
          <a:bodyPr wrap="square">
            <a:spAutoFit/>
          </a:bodyPr>
          <a:lstStyle/>
          <a:p>
            <a:r>
              <a:rPr lang="en-US" dirty="0">
                <a:solidFill>
                  <a:srgbClr val="92D050"/>
                </a:solidFill>
              </a:rPr>
              <a:t>Range of number of instances that can run for this application</a:t>
            </a:r>
          </a:p>
        </p:txBody>
      </p:sp>
      <p:cxnSp>
        <p:nvCxnSpPr>
          <p:cNvPr id="14" name="Straight Arrow Connector 13">
            <a:extLst>
              <a:ext uri="{FF2B5EF4-FFF2-40B4-BE49-F238E27FC236}">
                <a16:creationId xmlns:a16="http://schemas.microsoft.com/office/drawing/2014/main" id="{C2861A43-8DF5-BAD8-E4F1-78D11B3B3871}"/>
              </a:ext>
            </a:extLst>
          </p:cNvPr>
          <p:cNvCxnSpPr>
            <a:cxnSpLocks/>
            <a:endCxn id="12" idx="1"/>
          </p:cNvCxnSpPr>
          <p:nvPr/>
        </p:nvCxnSpPr>
        <p:spPr>
          <a:xfrm>
            <a:off x="2599267" y="4737037"/>
            <a:ext cx="1380068" cy="245388"/>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7223F-FD7D-A0F7-3171-60C8435D7D84}"/>
              </a:ext>
            </a:extLst>
          </p:cNvPr>
          <p:cNvCxnSpPr>
            <a:cxnSpLocks/>
          </p:cNvCxnSpPr>
          <p:nvPr/>
        </p:nvCxnSpPr>
        <p:spPr>
          <a:xfrm flipV="1">
            <a:off x="2599267" y="4982425"/>
            <a:ext cx="1380068" cy="346854"/>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F5D6EFB-73D8-5DE7-D49F-D9D5979047E0}"/>
              </a:ext>
            </a:extLst>
          </p:cNvPr>
          <p:cNvSpPr txBox="1"/>
          <p:nvPr/>
        </p:nvSpPr>
        <p:spPr>
          <a:xfrm>
            <a:off x="3606800" y="5747476"/>
            <a:ext cx="6096000" cy="646331"/>
          </a:xfrm>
          <a:prstGeom prst="rect">
            <a:avLst/>
          </a:prstGeom>
          <a:noFill/>
        </p:spPr>
        <p:txBody>
          <a:bodyPr wrap="square">
            <a:spAutoFit/>
          </a:bodyPr>
          <a:lstStyle/>
          <a:p>
            <a:r>
              <a:rPr lang="en-US" dirty="0">
                <a:solidFill>
                  <a:srgbClr val="00B0F0"/>
                </a:solidFill>
              </a:rPr>
              <a:t>Indicates the maximum and minimum time a request will wait in the queue to be processed</a:t>
            </a:r>
          </a:p>
        </p:txBody>
      </p:sp>
      <p:cxnSp>
        <p:nvCxnSpPr>
          <p:cNvPr id="22" name="Straight Arrow Connector 21">
            <a:extLst>
              <a:ext uri="{FF2B5EF4-FFF2-40B4-BE49-F238E27FC236}">
                <a16:creationId xmlns:a16="http://schemas.microsoft.com/office/drawing/2014/main" id="{A9A76D6D-9372-049C-6BE9-15C628A69620}"/>
              </a:ext>
            </a:extLst>
          </p:cNvPr>
          <p:cNvCxnSpPr>
            <a:endCxn id="18" idx="1"/>
          </p:cNvCxnSpPr>
          <p:nvPr/>
        </p:nvCxnSpPr>
        <p:spPr>
          <a:xfrm>
            <a:off x="3225800" y="5833533"/>
            <a:ext cx="381000" cy="23710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8A2FD5C-F571-5186-3143-5C8516ACC59B}"/>
              </a:ext>
            </a:extLst>
          </p:cNvPr>
          <p:cNvCxnSpPr/>
          <p:nvPr/>
        </p:nvCxnSpPr>
        <p:spPr>
          <a:xfrm flipV="1">
            <a:off x="3158067" y="6070641"/>
            <a:ext cx="448733" cy="34159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65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E784-CAF5-D9C0-F6C0-653603B0671C}"/>
              </a:ext>
            </a:extLst>
          </p:cNvPr>
          <p:cNvSpPr>
            <a:spLocks noGrp="1"/>
          </p:cNvSpPr>
          <p:nvPr>
            <p:ph type="title"/>
          </p:nvPr>
        </p:nvSpPr>
        <p:spPr/>
        <p:txBody>
          <a:bodyPr/>
          <a:lstStyle/>
          <a:p>
            <a:r>
              <a:rPr lang="en-US" dirty="0">
                <a:solidFill>
                  <a:schemeClr val="bg1"/>
                </a:solidFill>
              </a:rPr>
              <a:t>Splitting Traffic between App Engine Versions</a:t>
            </a:r>
            <a:endParaRPr lang="en-US" b="1" dirty="0">
              <a:solidFill>
                <a:schemeClr val="bg1"/>
              </a:solidFill>
            </a:endParaRPr>
          </a:p>
        </p:txBody>
      </p:sp>
      <p:sp>
        <p:nvSpPr>
          <p:cNvPr id="4" name="TextBox 3">
            <a:extLst>
              <a:ext uri="{FF2B5EF4-FFF2-40B4-BE49-F238E27FC236}">
                <a16:creationId xmlns:a16="http://schemas.microsoft.com/office/drawing/2014/main" id="{7B2ECFF9-13EA-7674-5426-D4A43B31A201}"/>
              </a:ext>
            </a:extLst>
          </p:cNvPr>
          <p:cNvSpPr txBox="1"/>
          <p:nvPr/>
        </p:nvSpPr>
        <p:spPr>
          <a:xfrm>
            <a:off x="3048000" y="1584236"/>
            <a:ext cx="6096000" cy="646331"/>
          </a:xfrm>
          <a:prstGeom prst="rect">
            <a:avLst/>
          </a:prstGeom>
          <a:noFill/>
        </p:spPr>
        <p:txBody>
          <a:bodyPr wrap="square">
            <a:spAutoFit/>
          </a:bodyPr>
          <a:lstStyle/>
          <a:p>
            <a:r>
              <a:rPr lang="en-US" dirty="0">
                <a:solidFill>
                  <a:schemeClr val="bg1"/>
                </a:solidFill>
              </a:rPr>
              <a:t>If you have more than one version of an application running, you can split traffic between the versions. </a:t>
            </a:r>
          </a:p>
        </p:txBody>
      </p:sp>
      <p:grpSp>
        <p:nvGrpSpPr>
          <p:cNvPr id="7" name="Group 6">
            <a:extLst>
              <a:ext uri="{FF2B5EF4-FFF2-40B4-BE49-F238E27FC236}">
                <a16:creationId xmlns:a16="http://schemas.microsoft.com/office/drawing/2014/main" id="{F2EC47F0-2E6E-951C-86B5-F57564C6B355}"/>
              </a:ext>
            </a:extLst>
          </p:cNvPr>
          <p:cNvGrpSpPr/>
          <p:nvPr/>
        </p:nvGrpSpPr>
        <p:grpSpPr>
          <a:xfrm>
            <a:off x="440268" y="2505352"/>
            <a:ext cx="3191932" cy="2146399"/>
            <a:chOff x="440268" y="2909799"/>
            <a:chExt cx="3191932" cy="2146399"/>
          </a:xfrm>
        </p:grpSpPr>
        <p:sp>
          <p:nvSpPr>
            <p:cNvPr id="6" name="TextBox 5">
              <a:extLst>
                <a:ext uri="{FF2B5EF4-FFF2-40B4-BE49-F238E27FC236}">
                  <a16:creationId xmlns:a16="http://schemas.microsoft.com/office/drawing/2014/main" id="{834E537C-6020-8CD3-0E3C-8CD20F281EAC}"/>
                </a:ext>
              </a:extLst>
            </p:cNvPr>
            <p:cNvSpPr txBox="1"/>
            <p:nvPr/>
          </p:nvSpPr>
          <p:spPr>
            <a:xfrm>
              <a:off x="1464734" y="2909799"/>
              <a:ext cx="1143000" cy="369332"/>
            </a:xfrm>
            <a:prstGeom prst="rect">
              <a:avLst/>
            </a:prstGeom>
            <a:noFill/>
          </p:spPr>
          <p:txBody>
            <a:bodyPr wrap="square">
              <a:spAutoFit/>
            </a:bodyPr>
            <a:lstStyle/>
            <a:p>
              <a:endParaRPr lang="en-US" dirty="0"/>
            </a:p>
          </p:txBody>
        </p:sp>
        <p:sp>
          <p:nvSpPr>
            <p:cNvPr id="12" name="TextBox 11">
              <a:extLst>
                <a:ext uri="{FF2B5EF4-FFF2-40B4-BE49-F238E27FC236}">
                  <a16:creationId xmlns:a16="http://schemas.microsoft.com/office/drawing/2014/main" id="{348DE505-C58C-BCB7-D000-F813530189FB}"/>
                </a:ext>
              </a:extLst>
            </p:cNvPr>
            <p:cNvSpPr txBox="1"/>
            <p:nvPr/>
          </p:nvSpPr>
          <p:spPr>
            <a:xfrm>
              <a:off x="440268" y="3578870"/>
              <a:ext cx="3191932" cy="1477328"/>
            </a:xfrm>
            <a:prstGeom prst="rect">
              <a:avLst/>
            </a:prstGeom>
            <a:noFill/>
          </p:spPr>
          <p:txBody>
            <a:bodyPr wrap="square">
              <a:spAutoFit/>
            </a:bodyPr>
            <a:lstStyle/>
            <a:p>
              <a:r>
                <a:rPr lang="en-US" dirty="0">
                  <a:solidFill>
                    <a:schemeClr val="bg1"/>
                  </a:solidFill>
                </a:rPr>
                <a:t>IP address splitting provides some stickiness, so a client is always routed to the same split, at least as long as the IP address does not change</a:t>
              </a:r>
            </a:p>
          </p:txBody>
        </p:sp>
      </p:grpSp>
      <p:grpSp>
        <p:nvGrpSpPr>
          <p:cNvPr id="5" name="Group 4">
            <a:extLst>
              <a:ext uri="{FF2B5EF4-FFF2-40B4-BE49-F238E27FC236}">
                <a16:creationId xmlns:a16="http://schemas.microsoft.com/office/drawing/2014/main" id="{5095A260-22B2-2C99-3CF1-FFF507E25C50}"/>
              </a:ext>
            </a:extLst>
          </p:cNvPr>
          <p:cNvGrpSpPr/>
          <p:nvPr/>
        </p:nvGrpSpPr>
        <p:grpSpPr>
          <a:xfrm>
            <a:off x="4635501" y="2505352"/>
            <a:ext cx="2582332" cy="1592401"/>
            <a:chOff x="4402668" y="2909799"/>
            <a:chExt cx="2582332" cy="1592401"/>
          </a:xfrm>
        </p:grpSpPr>
        <p:sp>
          <p:nvSpPr>
            <p:cNvPr id="8" name="TextBox 7">
              <a:extLst>
                <a:ext uri="{FF2B5EF4-FFF2-40B4-BE49-F238E27FC236}">
                  <a16:creationId xmlns:a16="http://schemas.microsoft.com/office/drawing/2014/main" id="{E67F5C3C-75AB-88B4-6A7C-5BD077C28753}"/>
                </a:ext>
              </a:extLst>
            </p:cNvPr>
            <p:cNvSpPr txBox="1"/>
            <p:nvPr/>
          </p:nvSpPr>
          <p:spPr>
            <a:xfrm>
              <a:off x="4999568" y="2909799"/>
              <a:ext cx="1388533" cy="369332"/>
            </a:xfrm>
            <a:prstGeom prst="rect">
              <a:avLst/>
            </a:prstGeom>
            <a:noFill/>
          </p:spPr>
          <p:txBody>
            <a:bodyPr wrap="square">
              <a:spAutoFit/>
            </a:bodyPr>
            <a:lstStyle/>
            <a:p>
              <a:endParaRPr lang="en-US" dirty="0"/>
            </a:p>
          </p:txBody>
        </p:sp>
        <p:sp>
          <p:nvSpPr>
            <p:cNvPr id="14" name="TextBox 13">
              <a:extLst>
                <a:ext uri="{FF2B5EF4-FFF2-40B4-BE49-F238E27FC236}">
                  <a16:creationId xmlns:a16="http://schemas.microsoft.com/office/drawing/2014/main" id="{C490F978-BD5A-EFAC-C32E-1E3E8EF07510}"/>
                </a:ext>
              </a:extLst>
            </p:cNvPr>
            <p:cNvSpPr txBox="1"/>
            <p:nvPr/>
          </p:nvSpPr>
          <p:spPr>
            <a:xfrm>
              <a:off x="4402668" y="3578870"/>
              <a:ext cx="2582332" cy="923330"/>
            </a:xfrm>
            <a:prstGeom prst="rect">
              <a:avLst/>
            </a:prstGeom>
            <a:noFill/>
          </p:spPr>
          <p:txBody>
            <a:bodyPr wrap="square">
              <a:spAutoFit/>
            </a:bodyPr>
            <a:lstStyle/>
            <a:p>
              <a:r>
                <a:rPr lang="en-US" dirty="0">
                  <a:solidFill>
                    <a:schemeClr val="bg1"/>
                  </a:solidFill>
                </a:rPr>
                <a:t>HTTP cookies are useful when you want to assign users to versions</a:t>
              </a:r>
            </a:p>
          </p:txBody>
        </p:sp>
      </p:grpSp>
      <p:grpSp>
        <p:nvGrpSpPr>
          <p:cNvPr id="3" name="Group 2">
            <a:extLst>
              <a:ext uri="{FF2B5EF4-FFF2-40B4-BE49-F238E27FC236}">
                <a16:creationId xmlns:a16="http://schemas.microsoft.com/office/drawing/2014/main" id="{6E29F3B2-4A75-7D82-AEF6-C01249AAAA58}"/>
              </a:ext>
            </a:extLst>
          </p:cNvPr>
          <p:cNvGrpSpPr/>
          <p:nvPr/>
        </p:nvGrpSpPr>
        <p:grpSpPr>
          <a:xfrm>
            <a:off x="8221133" y="2505352"/>
            <a:ext cx="3014133" cy="1592400"/>
            <a:chOff x="8221133" y="2909799"/>
            <a:chExt cx="3014133" cy="1592400"/>
          </a:xfrm>
        </p:grpSpPr>
        <p:sp>
          <p:nvSpPr>
            <p:cNvPr id="10" name="TextBox 9">
              <a:extLst>
                <a:ext uri="{FF2B5EF4-FFF2-40B4-BE49-F238E27FC236}">
                  <a16:creationId xmlns:a16="http://schemas.microsoft.com/office/drawing/2014/main" id="{DB6D4C30-02F9-F59F-07B3-B8C2C2DEC947}"/>
                </a:ext>
              </a:extLst>
            </p:cNvPr>
            <p:cNvSpPr txBox="1"/>
            <p:nvPr/>
          </p:nvSpPr>
          <p:spPr>
            <a:xfrm>
              <a:off x="8801099" y="2909799"/>
              <a:ext cx="1854200" cy="369332"/>
            </a:xfrm>
            <a:prstGeom prst="rect">
              <a:avLst/>
            </a:prstGeom>
            <a:noFill/>
          </p:spPr>
          <p:txBody>
            <a:bodyPr wrap="square">
              <a:spAutoFit/>
            </a:bodyPr>
            <a:lstStyle/>
            <a:p>
              <a:endParaRPr lang="en-US" dirty="0"/>
            </a:p>
          </p:txBody>
        </p:sp>
        <p:sp>
          <p:nvSpPr>
            <p:cNvPr id="16" name="TextBox 15">
              <a:extLst>
                <a:ext uri="{FF2B5EF4-FFF2-40B4-BE49-F238E27FC236}">
                  <a16:creationId xmlns:a16="http://schemas.microsoft.com/office/drawing/2014/main" id="{5A4E11B4-6404-221A-0125-50166F724059}"/>
                </a:ext>
              </a:extLst>
            </p:cNvPr>
            <p:cNvSpPr txBox="1"/>
            <p:nvPr/>
          </p:nvSpPr>
          <p:spPr>
            <a:xfrm>
              <a:off x="8221133" y="3578869"/>
              <a:ext cx="3014133" cy="923330"/>
            </a:xfrm>
            <a:prstGeom prst="rect">
              <a:avLst/>
            </a:prstGeom>
            <a:noFill/>
          </p:spPr>
          <p:txBody>
            <a:bodyPr wrap="square">
              <a:spAutoFit/>
            </a:bodyPr>
            <a:lstStyle/>
            <a:p>
              <a:r>
                <a:rPr lang="en-US" dirty="0">
                  <a:solidFill>
                    <a:schemeClr val="bg1"/>
                  </a:solidFill>
                </a:rPr>
                <a:t>Random selection is useful when you want to evenly distribute workload</a:t>
              </a:r>
            </a:p>
          </p:txBody>
        </p:sp>
      </p:grpSp>
      <p:pic>
        <p:nvPicPr>
          <p:cNvPr id="7170" name="Picture 2" descr="How to Find IP Address in Windows 11 - ForPCPage.com">
            <a:extLst>
              <a:ext uri="{FF2B5EF4-FFF2-40B4-BE49-F238E27FC236}">
                <a16:creationId xmlns:a16="http://schemas.microsoft.com/office/drawing/2014/main" id="{B9873378-7804-DCE3-C74D-731D19918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495" y="4651751"/>
            <a:ext cx="1969477" cy="196947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Engraved Lucite Round Cookie Jar with Cover - Large – The Perfect Gift NJ">
            <a:extLst>
              <a:ext uri="{FF2B5EF4-FFF2-40B4-BE49-F238E27FC236}">
                <a16:creationId xmlns:a16="http://schemas.microsoft.com/office/drawing/2014/main" id="{52221850-6169-2D05-7283-F533FD4D6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269" y="4097752"/>
            <a:ext cx="2502795" cy="250279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Dibujo De Garabato Para Colorear - Ultra Coloring Pages">
            <a:extLst>
              <a:ext uri="{FF2B5EF4-FFF2-40B4-BE49-F238E27FC236}">
                <a16:creationId xmlns:a16="http://schemas.microsoft.com/office/drawing/2014/main" id="{60593A23-7FF0-2F73-23F1-27875931F1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074" t="20128" r="15299" b="12308"/>
          <a:stretch/>
        </p:blipFill>
        <p:spPr bwMode="auto">
          <a:xfrm>
            <a:off x="8743460" y="4407113"/>
            <a:ext cx="1969477" cy="188407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BED67E1-C268-7693-83CC-2E0A45FD2E3B}"/>
              </a:ext>
            </a:extLst>
          </p:cNvPr>
          <p:cNvSpPr/>
          <p:nvPr/>
        </p:nvSpPr>
        <p:spPr>
          <a:xfrm>
            <a:off x="5389685" y="5750169"/>
            <a:ext cx="1107830" cy="2110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66"/>
                </a:solidFill>
              </a:rPr>
              <a:t>GOOGAPPUID</a:t>
            </a:r>
            <a:endParaRPr lang="en-US" dirty="0">
              <a:solidFill>
                <a:srgbClr val="FF0066"/>
              </a:solidFill>
            </a:endParaRPr>
          </a:p>
        </p:txBody>
      </p:sp>
      <p:sp>
        <p:nvSpPr>
          <p:cNvPr id="17" name="Rectangle 16">
            <a:extLst>
              <a:ext uri="{FF2B5EF4-FFF2-40B4-BE49-F238E27FC236}">
                <a16:creationId xmlns:a16="http://schemas.microsoft.com/office/drawing/2014/main" id="{06C84466-A824-D362-18E7-2948B679376F}"/>
              </a:ext>
            </a:extLst>
          </p:cNvPr>
          <p:cNvSpPr/>
          <p:nvPr/>
        </p:nvSpPr>
        <p:spPr>
          <a:xfrm>
            <a:off x="1220290" y="2505352"/>
            <a:ext cx="1631885"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IP address</a:t>
            </a:r>
          </a:p>
        </p:txBody>
      </p:sp>
      <p:sp>
        <p:nvSpPr>
          <p:cNvPr id="18" name="Rectangle 17">
            <a:extLst>
              <a:ext uri="{FF2B5EF4-FFF2-40B4-BE49-F238E27FC236}">
                <a16:creationId xmlns:a16="http://schemas.microsoft.com/office/drawing/2014/main" id="{E34BD6F8-615B-AC13-572D-E9A313C27508}"/>
              </a:ext>
            </a:extLst>
          </p:cNvPr>
          <p:cNvSpPr/>
          <p:nvPr/>
        </p:nvSpPr>
        <p:spPr>
          <a:xfrm>
            <a:off x="5043421" y="2505351"/>
            <a:ext cx="1800358"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HTTP cookie</a:t>
            </a:r>
          </a:p>
        </p:txBody>
      </p:sp>
      <p:sp>
        <p:nvSpPr>
          <p:cNvPr id="19" name="Rectangle 18">
            <a:extLst>
              <a:ext uri="{FF2B5EF4-FFF2-40B4-BE49-F238E27FC236}">
                <a16:creationId xmlns:a16="http://schemas.microsoft.com/office/drawing/2014/main" id="{9F241602-8995-6080-03B4-AE89407A8869}"/>
              </a:ext>
            </a:extLst>
          </p:cNvPr>
          <p:cNvSpPr/>
          <p:nvPr/>
        </p:nvSpPr>
        <p:spPr>
          <a:xfrm>
            <a:off x="8282677" y="2505351"/>
            <a:ext cx="2541410" cy="461665"/>
          </a:xfrm>
          <a:prstGeom prst="rect">
            <a:avLst/>
          </a:prstGeom>
          <a:noFill/>
        </p:spPr>
        <p:txBody>
          <a:bodyPr wrap="square" lIns="91440" tIns="45720" rIns="91440" bIns="45720">
            <a:spAutoFit/>
          </a:bodyPr>
          <a:lstStyle/>
          <a:p>
            <a:pPr algn="ctr"/>
            <a:r>
              <a:rPr lang="en-GB" sz="2400" b="1" cap="none" spc="0" dirty="0">
                <a:ln w="6600">
                  <a:solidFill>
                    <a:schemeClr val="accent2"/>
                  </a:solidFill>
                  <a:prstDash val="solid"/>
                </a:ln>
                <a:solidFill>
                  <a:srgbClr val="FFFFFF"/>
                </a:solidFill>
                <a:effectLst>
                  <a:outerShdw dist="38100" dir="2700000" algn="tl" rotWithShape="0">
                    <a:schemeClr val="accent2"/>
                  </a:outerShdw>
                </a:effectLst>
              </a:rPr>
              <a:t>Random selection</a:t>
            </a:r>
          </a:p>
        </p:txBody>
      </p:sp>
    </p:spTree>
    <p:extLst>
      <p:ext uri="{BB962C8B-B14F-4D97-AF65-F5344CB8AC3E}">
        <p14:creationId xmlns:p14="http://schemas.microsoft.com/office/powerpoint/2010/main" val="4217872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FB22-40E3-61EA-8F5C-941BD2734366}"/>
              </a:ext>
            </a:extLst>
          </p:cNvPr>
          <p:cNvSpPr>
            <a:spLocks noGrp="1"/>
          </p:cNvSpPr>
          <p:nvPr>
            <p:ph type="title"/>
          </p:nvPr>
        </p:nvSpPr>
        <p:spPr>
          <a:xfrm>
            <a:off x="4330700" y="339725"/>
            <a:ext cx="3530600" cy="1325563"/>
          </a:xfrm>
        </p:spPr>
        <p:txBody>
          <a:bodyPr/>
          <a:lstStyle/>
          <a:p>
            <a:r>
              <a:rPr lang="en-US" dirty="0">
                <a:solidFill>
                  <a:schemeClr val="bg1"/>
                </a:solidFill>
              </a:rPr>
              <a:t>Preferred Way</a:t>
            </a:r>
          </a:p>
        </p:txBody>
      </p:sp>
      <p:sp>
        <p:nvSpPr>
          <p:cNvPr id="4" name="TextBox 3">
            <a:extLst>
              <a:ext uri="{FF2B5EF4-FFF2-40B4-BE49-F238E27FC236}">
                <a16:creationId xmlns:a16="http://schemas.microsoft.com/office/drawing/2014/main" id="{6781AF02-C6EF-0143-3627-D3B36A26928D}"/>
              </a:ext>
            </a:extLst>
          </p:cNvPr>
          <p:cNvSpPr txBox="1"/>
          <p:nvPr/>
        </p:nvSpPr>
        <p:spPr>
          <a:xfrm>
            <a:off x="7115813" y="2409091"/>
            <a:ext cx="4038600" cy="2862322"/>
          </a:xfrm>
          <a:prstGeom prst="rect">
            <a:avLst/>
          </a:prstGeom>
          <a:noFill/>
        </p:spPr>
        <p:txBody>
          <a:bodyPr wrap="square">
            <a:spAutoFit/>
          </a:bodyPr>
          <a:lstStyle/>
          <a:p>
            <a:r>
              <a:rPr lang="en-US" dirty="0">
                <a:solidFill>
                  <a:schemeClr val="bg1"/>
                </a:solidFill>
              </a:rPr>
              <a:t>The preferred way to split traffic is with a cookie. When you use a cookie, the HTTP request header for a cookie named </a:t>
            </a:r>
            <a:r>
              <a:rPr lang="en-US" dirty="0">
                <a:solidFill>
                  <a:srgbClr val="FF0066"/>
                </a:solidFill>
              </a:rPr>
              <a:t>GOOGAPPUID</a:t>
            </a:r>
            <a:r>
              <a:rPr lang="en-US" dirty="0">
                <a:solidFill>
                  <a:schemeClr val="bg1"/>
                </a:solidFill>
              </a:rPr>
              <a:t> contains a hash value between 0 and 999. </a:t>
            </a:r>
          </a:p>
          <a:p>
            <a:r>
              <a:rPr lang="en-US" dirty="0">
                <a:solidFill>
                  <a:schemeClr val="bg1"/>
                </a:solidFill>
              </a:rPr>
              <a:t>With cookie splitting, a user will access the same version of the app even if the user’s IP address changes. If there is no GOOGAPPUID cookie, the</a:t>
            </a:r>
          </a:p>
          <a:p>
            <a:r>
              <a:rPr lang="en-US" dirty="0">
                <a:solidFill>
                  <a:schemeClr val="bg1"/>
                </a:solidFill>
              </a:rPr>
              <a:t>n the traffic is routed randomly</a:t>
            </a:r>
          </a:p>
        </p:txBody>
      </p:sp>
      <p:pic>
        <p:nvPicPr>
          <p:cNvPr id="8194" name="Picture 2" descr="Best option choice stock illustration. Illustration of selection - 27566657">
            <a:extLst>
              <a:ext uri="{FF2B5EF4-FFF2-40B4-BE49-F238E27FC236}">
                <a16:creationId xmlns:a16="http://schemas.microsoft.com/office/drawing/2014/main" id="{C48DC386-453A-B8E4-034E-2956F9360B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691" b="20770"/>
          <a:stretch/>
        </p:blipFill>
        <p:spPr bwMode="auto">
          <a:xfrm>
            <a:off x="703385" y="2409091"/>
            <a:ext cx="5014452" cy="2690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243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77C13AE3-7F7A-AE3C-E6A4-7AFD5D491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467" y="412750"/>
            <a:ext cx="8593666" cy="6445250"/>
          </a:xfrm>
          <a:prstGeom prst="rect">
            <a:avLst/>
          </a:prstGeom>
          <a:noFill/>
          <a:extLst>
            <a:ext uri="{909E8E84-426E-40DD-AFC4-6F175D3DCCD1}">
              <a14:hiddenFill xmlns:a14="http://schemas.microsoft.com/office/drawing/2010/main">
                <a:solidFill>
                  <a:srgbClr val="FFFFFF"/>
                </a:solidFill>
              </a14:hiddenFill>
            </a:ext>
          </a:extLst>
        </p:spPr>
      </p:pic>
      <p:sp>
        <p:nvSpPr>
          <p:cNvPr id="5" name="Speech Bubble: Rectangle with Corners Rounded 4">
            <a:extLst>
              <a:ext uri="{FF2B5EF4-FFF2-40B4-BE49-F238E27FC236}">
                <a16:creationId xmlns:a16="http://schemas.microsoft.com/office/drawing/2014/main" id="{BCF9E6F9-A02A-F9D8-806C-48065D7A7C3D}"/>
              </a:ext>
            </a:extLst>
          </p:cNvPr>
          <p:cNvSpPr/>
          <p:nvPr/>
        </p:nvSpPr>
        <p:spPr>
          <a:xfrm>
            <a:off x="3839633" y="482600"/>
            <a:ext cx="4127499" cy="711200"/>
          </a:xfrm>
          <a:prstGeom prst="wedgeRoundRectCallout">
            <a:avLst>
              <a:gd name="adj1" fmla="val -31360"/>
              <a:gd name="adj2" fmla="val 12559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What`s the preferred way to split traffic?</a:t>
            </a:r>
          </a:p>
        </p:txBody>
      </p:sp>
    </p:spTree>
    <p:extLst>
      <p:ext uri="{BB962C8B-B14F-4D97-AF65-F5344CB8AC3E}">
        <p14:creationId xmlns:p14="http://schemas.microsoft.com/office/powerpoint/2010/main" val="3962070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a Cueva Twitter -இல் உள்ளார்: &quot;- Y que estilo tocan? - Hacemos hard rock  brutal power, metal industrial con influencias en folk vikingo noruego,  Death metal finlandés y a veces algún cover">
            <a:extLst>
              <a:ext uri="{FF2B5EF4-FFF2-40B4-BE49-F238E27FC236}">
                <a16:creationId xmlns:a16="http://schemas.microsoft.com/office/drawing/2014/main" id="{8D73EBA9-1C33-C859-0AF6-DC6E025BE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4388" y="0"/>
            <a:ext cx="548163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0D5FAC4-B4A3-07A7-39D1-6C04E1438C10}"/>
              </a:ext>
            </a:extLst>
          </p:cNvPr>
          <p:cNvSpPr/>
          <p:nvPr/>
        </p:nvSpPr>
        <p:spPr>
          <a:xfrm>
            <a:off x="4585494" y="4224867"/>
            <a:ext cx="2353733" cy="406399"/>
          </a:xfrm>
          <a:prstGeom prst="rect">
            <a:avLst/>
          </a:prstGeom>
          <a:solidFill>
            <a:srgbClr val="6C4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peech Bubble: Rectangle with Corners Rounded 4">
            <a:extLst>
              <a:ext uri="{FF2B5EF4-FFF2-40B4-BE49-F238E27FC236}">
                <a16:creationId xmlns:a16="http://schemas.microsoft.com/office/drawing/2014/main" id="{A85FBD72-8DBD-F8E3-8809-6BC5D7003449}"/>
              </a:ext>
            </a:extLst>
          </p:cNvPr>
          <p:cNvSpPr/>
          <p:nvPr/>
        </p:nvSpPr>
        <p:spPr>
          <a:xfrm>
            <a:off x="770466" y="2692400"/>
            <a:ext cx="4241800" cy="1938866"/>
          </a:xfrm>
          <a:prstGeom prst="wedgeRoundRectCallout">
            <a:avLst>
              <a:gd name="adj1" fmla="val 54217"/>
              <a:gd name="adj2" fmla="val 1236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t>Cookie</a:t>
            </a:r>
          </a:p>
          <a:p>
            <a:pPr algn="ctr"/>
            <a:r>
              <a:rPr lang="en-US" sz="4800" b="1" dirty="0"/>
              <a:t>GOOGAPPUID</a:t>
            </a:r>
            <a:endParaRPr lang="en-US" b="1" dirty="0"/>
          </a:p>
        </p:txBody>
      </p:sp>
    </p:spTree>
    <p:extLst>
      <p:ext uri="{BB962C8B-B14F-4D97-AF65-F5344CB8AC3E}">
        <p14:creationId xmlns:p14="http://schemas.microsoft.com/office/powerpoint/2010/main" val="3481234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5297-E9E6-FF36-E82E-16C49E974330}"/>
              </a:ext>
            </a:extLst>
          </p:cNvPr>
          <p:cNvSpPr>
            <a:spLocks noGrp="1"/>
          </p:cNvSpPr>
          <p:nvPr>
            <p:ph type="title"/>
          </p:nvPr>
        </p:nvSpPr>
        <p:spPr>
          <a:xfrm>
            <a:off x="4161365" y="335846"/>
            <a:ext cx="3606800" cy="1325563"/>
          </a:xfrm>
        </p:spPr>
        <p:txBody>
          <a:bodyPr/>
          <a:lstStyle/>
          <a:p>
            <a:r>
              <a:rPr lang="en-US" dirty="0">
                <a:solidFill>
                  <a:schemeClr val="bg1"/>
                </a:solidFill>
              </a:rPr>
              <a:t>Traffic Splitting</a:t>
            </a:r>
          </a:p>
        </p:txBody>
      </p:sp>
      <p:sp>
        <p:nvSpPr>
          <p:cNvPr id="4" name="TextBox 3">
            <a:extLst>
              <a:ext uri="{FF2B5EF4-FFF2-40B4-BE49-F238E27FC236}">
                <a16:creationId xmlns:a16="http://schemas.microsoft.com/office/drawing/2014/main" id="{BD2D0DFB-D8C0-0938-3D17-E9FBA0E7C56B}"/>
              </a:ext>
            </a:extLst>
          </p:cNvPr>
          <p:cNvSpPr txBox="1"/>
          <p:nvPr/>
        </p:nvSpPr>
        <p:spPr>
          <a:xfrm>
            <a:off x="1219199" y="1997839"/>
            <a:ext cx="9491133" cy="4801314"/>
          </a:xfrm>
          <a:prstGeom prst="rect">
            <a:avLst/>
          </a:prstGeom>
          <a:noFill/>
        </p:spPr>
        <p:txBody>
          <a:bodyPr wrap="square">
            <a:spAutoFit/>
          </a:bodyPr>
          <a:lstStyle/>
          <a:p>
            <a:r>
              <a:rPr lang="en-US" dirty="0">
                <a:solidFill>
                  <a:schemeClr val="bg1"/>
                </a:solidFill>
              </a:rPr>
              <a:t>The command to split traffic is </a:t>
            </a:r>
          </a:p>
          <a:p>
            <a:endParaRPr lang="en-US" dirty="0">
              <a:solidFill>
                <a:schemeClr val="bg1"/>
              </a:solidFill>
            </a:endParaRPr>
          </a:p>
          <a:p>
            <a:r>
              <a:rPr lang="en-US" dirty="0" err="1">
                <a:solidFill>
                  <a:schemeClr val="bg1"/>
                </a:solidFill>
                <a:latin typeface="Consolas" panose="020B0609020204030204" pitchFamily="49" charset="0"/>
              </a:rPr>
              <a:t>gcloud</a:t>
            </a:r>
            <a:r>
              <a:rPr lang="en-US" dirty="0">
                <a:solidFill>
                  <a:schemeClr val="bg1"/>
                </a:solidFill>
                <a:latin typeface="Consolas" panose="020B0609020204030204" pitchFamily="49" charset="0"/>
              </a:rPr>
              <a:t> app services set-traffic </a:t>
            </a:r>
          </a:p>
          <a:p>
            <a:endParaRPr lang="en-US" dirty="0">
              <a:solidFill>
                <a:schemeClr val="bg1"/>
              </a:solidFill>
            </a:endParaRPr>
          </a:p>
          <a:p>
            <a:r>
              <a:rPr lang="en-US" dirty="0">
                <a:solidFill>
                  <a:schemeClr val="bg1"/>
                </a:solidFill>
              </a:rPr>
              <a:t>Here’s an example: </a:t>
            </a:r>
          </a:p>
          <a:p>
            <a:r>
              <a:rPr lang="en-US" dirty="0" err="1">
                <a:solidFill>
                  <a:schemeClr val="bg1"/>
                </a:solidFill>
              </a:rPr>
              <a:t>gcloud</a:t>
            </a:r>
            <a:r>
              <a:rPr lang="en-US" dirty="0">
                <a:solidFill>
                  <a:schemeClr val="bg1"/>
                </a:solidFill>
              </a:rPr>
              <a:t> app services set-traffic serv1 --splits </a:t>
            </a:r>
            <a:r>
              <a:rPr lang="en-US" dirty="0">
                <a:solidFill>
                  <a:srgbClr val="FF0066"/>
                </a:solidFill>
              </a:rPr>
              <a:t>v1=.4</a:t>
            </a:r>
            <a:r>
              <a:rPr lang="en-US" dirty="0">
                <a:solidFill>
                  <a:schemeClr val="bg1"/>
                </a:solidFill>
              </a:rPr>
              <a:t>,</a:t>
            </a:r>
            <a:r>
              <a:rPr lang="en-US" dirty="0">
                <a:solidFill>
                  <a:srgbClr val="00B0F0"/>
                </a:solidFill>
              </a:rPr>
              <a:t>v2=.6 </a:t>
            </a:r>
          </a:p>
          <a:p>
            <a:endParaRPr lang="en-US" dirty="0">
              <a:solidFill>
                <a:schemeClr val="bg1"/>
              </a:solidFill>
            </a:endParaRPr>
          </a:p>
          <a:p>
            <a:r>
              <a:rPr lang="en-US" dirty="0">
                <a:solidFill>
                  <a:schemeClr val="bg1"/>
                </a:solidFill>
              </a:rPr>
              <a:t>This will split traffic with </a:t>
            </a:r>
            <a:r>
              <a:rPr lang="en-US" dirty="0">
                <a:solidFill>
                  <a:srgbClr val="FF0066"/>
                </a:solidFill>
              </a:rPr>
              <a:t>40 percent going to version 1 </a:t>
            </a:r>
            <a:r>
              <a:rPr lang="en-US" dirty="0">
                <a:solidFill>
                  <a:schemeClr val="bg1"/>
                </a:solidFill>
              </a:rPr>
              <a:t>of the service named serv1 and </a:t>
            </a:r>
            <a:r>
              <a:rPr lang="en-US" dirty="0">
                <a:solidFill>
                  <a:srgbClr val="00B0F0"/>
                </a:solidFill>
              </a:rPr>
              <a:t>60 percent going to version 2</a:t>
            </a:r>
            <a:r>
              <a:rPr lang="en-US" dirty="0">
                <a:solidFill>
                  <a:schemeClr val="bg1"/>
                </a:solidFill>
              </a:rPr>
              <a:t>. If no service name is specified, then all services are split. </a:t>
            </a:r>
          </a:p>
          <a:p>
            <a:endParaRPr lang="en-US" dirty="0">
              <a:solidFill>
                <a:schemeClr val="bg1"/>
              </a:solidFill>
            </a:endParaRPr>
          </a:p>
          <a:p>
            <a:r>
              <a:rPr lang="en-US" dirty="0">
                <a:solidFill>
                  <a:schemeClr val="bg1"/>
                </a:solidFill>
              </a:rPr>
              <a:t>The </a:t>
            </a:r>
            <a:r>
              <a:rPr lang="en-US" dirty="0" err="1">
                <a:solidFill>
                  <a:schemeClr val="bg1"/>
                </a:solidFill>
              </a:rPr>
              <a:t>gcloud</a:t>
            </a:r>
            <a:r>
              <a:rPr lang="en-US" dirty="0">
                <a:solidFill>
                  <a:schemeClr val="bg1"/>
                </a:solidFill>
              </a:rPr>
              <a:t> app services set-traffic command takes the following parameters: </a:t>
            </a:r>
          </a:p>
          <a:p>
            <a:endParaRPr lang="en-US" dirty="0">
              <a:solidFill>
                <a:schemeClr val="bg1"/>
              </a:solidFill>
            </a:endParaRPr>
          </a:p>
          <a:p>
            <a:r>
              <a:rPr lang="en-US" dirty="0">
                <a:solidFill>
                  <a:schemeClr val="bg1"/>
                </a:solidFill>
              </a:rPr>
              <a:t>■ </a:t>
            </a:r>
            <a:r>
              <a:rPr lang="en-US" dirty="0">
                <a:solidFill>
                  <a:srgbClr val="FF0066"/>
                </a:solidFill>
              </a:rPr>
              <a:t>--migrate</a:t>
            </a:r>
            <a:r>
              <a:rPr lang="en-US" dirty="0">
                <a:solidFill>
                  <a:schemeClr val="bg1"/>
                </a:solidFill>
              </a:rPr>
              <a:t> indicates that App Engine should migrate traffic from the previous version to the new version. </a:t>
            </a:r>
          </a:p>
          <a:p>
            <a:endParaRPr lang="en-US" dirty="0">
              <a:solidFill>
                <a:schemeClr val="bg1"/>
              </a:solidFill>
            </a:endParaRPr>
          </a:p>
          <a:p>
            <a:r>
              <a:rPr lang="en-US" dirty="0">
                <a:solidFill>
                  <a:schemeClr val="bg1"/>
                </a:solidFill>
              </a:rPr>
              <a:t>■ </a:t>
            </a:r>
            <a:r>
              <a:rPr lang="en-US" dirty="0">
                <a:solidFill>
                  <a:srgbClr val="FF0066"/>
                </a:solidFill>
              </a:rPr>
              <a:t>--split-by</a:t>
            </a:r>
            <a:r>
              <a:rPr lang="en-US" dirty="0">
                <a:solidFill>
                  <a:schemeClr val="bg1"/>
                </a:solidFill>
              </a:rPr>
              <a:t> specifies how to split traffic using either IP or cookies. Possible values are </a:t>
            </a:r>
            <a:r>
              <a:rPr lang="en-US" dirty="0" err="1">
                <a:solidFill>
                  <a:schemeClr val="bg1"/>
                </a:solidFill>
              </a:rPr>
              <a:t>ip</a:t>
            </a:r>
            <a:r>
              <a:rPr lang="en-US" dirty="0">
                <a:solidFill>
                  <a:schemeClr val="bg1"/>
                </a:solidFill>
              </a:rPr>
              <a:t>, cookie, and random.</a:t>
            </a:r>
          </a:p>
        </p:txBody>
      </p:sp>
    </p:spTree>
    <p:extLst>
      <p:ext uri="{BB962C8B-B14F-4D97-AF65-F5344CB8AC3E}">
        <p14:creationId xmlns:p14="http://schemas.microsoft.com/office/powerpoint/2010/main" val="21218185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953</Words>
  <Application>Microsoft Office PowerPoint</Application>
  <PresentationFormat>Widescreen</PresentationFormat>
  <Paragraphs>97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Comic Sans MS</vt:lpstr>
      <vt:lpstr>Consolas</vt:lpstr>
      <vt:lpstr>Tema de Office</vt:lpstr>
      <vt:lpstr>Google Cloud App Engine</vt:lpstr>
      <vt:lpstr>What is App Engine?</vt:lpstr>
      <vt:lpstr>App Engine Components</vt:lpstr>
      <vt:lpstr>The component hierarchy of App Engine applications</vt:lpstr>
      <vt:lpstr>App Engine Use Cases</vt:lpstr>
      <vt:lpstr>Deploying Apps</vt:lpstr>
      <vt:lpstr>Gcloud app deploy</vt:lpstr>
      <vt:lpstr>What`s next?</vt:lpstr>
      <vt:lpstr>Then</vt:lpstr>
      <vt:lpstr>Cloud Console View</vt:lpstr>
      <vt:lpstr>Traffic Split View</vt:lpstr>
      <vt:lpstr>Deployed Instance</vt:lpstr>
      <vt:lpstr>Scaling App Engine Applications</vt:lpstr>
      <vt:lpstr>Scaling App Engine Applications</vt:lpstr>
      <vt:lpstr>Splitting Traffic between App Engine Versions</vt:lpstr>
      <vt:lpstr>Preferred Way</vt:lpstr>
      <vt:lpstr>PowerPoint Presentation</vt:lpstr>
      <vt:lpstr>PowerPoint Presentation</vt:lpstr>
      <vt:lpstr>Traffic Splitting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App Engine</dc:title>
  <dc:creator>jpaniagua</dc:creator>
  <cp:lastModifiedBy>jpaniagua</cp:lastModifiedBy>
  <cp:revision>27</cp:revision>
  <dcterms:created xsi:type="dcterms:W3CDTF">2022-04-30T19:40:47Z</dcterms:created>
  <dcterms:modified xsi:type="dcterms:W3CDTF">2022-05-04T08:48:19Z</dcterms:modified>
</cp:coreProperties>
</file>